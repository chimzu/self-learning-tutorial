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069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link: [PASTE YOUR PRIVATE GITHUB / COLAB LINK HERE BEFORE SUBMITTING]
Welcome. In this tutorial you will learn how to predict, from the first 24 hours of data, whether an ICU patient will stay 3 or more days. We use MIMIC-III and only library tools (pandas, scikit-learn, seaborn); nothing is built from scratch. By the end you will be able to rebuild the whole pipeline from the code file. Reminder: MIMIC-III is a credentialed dataset, so you need your own PhysioNet access to run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why. ICU capacity is limited, so knowing early who is likely to stay long is useful. We turn it into a yes/no question: will the stay be at least 3 days? The 3-day cutoff is a choice you can change. The important rule is that we only use data from the first 24 hours of the stay, because that is what would be known when making an early prediction.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tables are all we need. PATIENTS gives sex and birth date. ADMISSIONS gives the admission type. ICUSTAYS gives when the ICU stay started and how long it lasted. LABEVENTS is the big one with tens of millions of rows, so we will read it in chunks. Tables are joined using SUBJECT_ID (patient) and HADM_ID (hospital admission). Remind peers that MIMIC-III requires CITI training and a signed data use agreement, and that raw data must never be shared publicly.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tutorial in six steps. The rest of the slides walk through them in order, and each slide matches a numbered section in the Python file. Between steps 5 and 6 we also do a quick exploration of the data, and after evaluation we interpret the model.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to teach here. First, one stay per patient. If the same patient had several stays, some could land in training and some in testing, and the model would partly memorize people. Second, age. MIMIC shifts birth dates for patients older than 89 so they look about 300 years old. If you subtract the whole timestamps you can also get overflow errors, so we use only the years and cap age at 90. Code: sections Step 1 and Step 2.</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label is a simple comparison on the LOS column. Always look at how many positives and negatives you have. If only 5 percent of patients were positive, a model that says 'no' every time would be 95 percent accurate and useless. That is why we later use AUROC and recall. Invite the audience to try other cutoffs.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step conceptually. We only keep lab values measured between ICU admission and 24 hours later. If we included labs from day 5, we would be using information from the future, which is called data leakage, and the model would look great but be useless in practice. We summarize each lab with its maximum, which captures the worst value on day one. The unstack call turns the long table into one column per lab. The file is huge, so read it in chunks and filter early.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merge the lab columns onto the cohort and one-hot encode admission type with pandas get_dummies. Then look at the data. Print the percent missing per feature; many labs will be missing for lots of patients, and we will handle that inside the model pipeline. Use seaborn boxplots to compare each lab between short and prolonged stays, and a heatmap to see which features are correlated. This takes minutes and often catches mistakes.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hold out 20 percent of patients to test on data the model has never seen. A scikit-learn Pipeline chains imputation, scaling and the model so that exactly the same steps are applied to training and test data, and the median used to fill missing values comes from the training set only. We compare a simple model, logistic regression, with a random forest. The random forest does not need scaling. class_weight balanced gives more weight to the rarer class. Setting random_state makes the results repeatable.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Evaluate only on the test set. AUROC uses the predicted probability, so we call predict_proba and take the column for class 1. The classification report gives precision and recall. Confusion matrix shows the actual counts and is easy to plot with seaborn heatmap. Add your own numbers here after you run the notebook on MIMIC-III: write down the AUROC for both models and which one did better, and compare them to the 0.5 coin-flip line on the ROC plot.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Models should be explainable, especially in healthcare. Feature importance from the forest and coefficients from logistic regression give two views. These are associations, not causes. Then walk through the four pitfalls. These are the mistakes beginners most often make with MIMIC and they all produce results that look too good.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limitations. MIMIC-III comes from one hospital. A short stay can mean a patient got better quickly or died quickly, which the label cannot tell apart. Then give the audience ideas to extend the project on their own, including trying a Keras neural network once they are comfortable with the pipeline.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rebuild this, request MIMIC-III access, download the CSV files, set the data folder path at the top of the code, and run it section by section. Every section has comments explaining what it does and why. Please keep your outputs private because MIMIC-III is a credentialed dataset. Thank you, and I welcome feedback on whether you could follow the steps.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E3F"/>
        </a:solidFill>
        <a:effectLst/>
      </p:bgPr>
    </p:bg>
    <p:spTree>
      <p:nvGrpSpPr>
        <p:cNvPr id="1" name=""/>
        <p:cNvGrpSpPr/>
        <p:nvPr/>
      </p:nvGrpSpPr>
      <p:grpSpPr>
        <a:xfrm>
          <a:off x="0" y="0"/>
          <a:ext cx="0" cy="0"/>
          <a:chOff x="0" y="0"/>
          <a:chExt cx="0" cy="0"/>
        </a:xfrm>
      </p:grpSpPr>
      <p:sp>
        <p:nvSpPr>
          <p:cNvPr id="2" name="Text 0"/>
          <p:cNvSpPr txBox="1"/>
          <p:nvPr/>
        </p:nvSpPr>
        <p:spPr>
          <a:xfrm>
            <a:off x="640080" y="1280160"/>
            <a:ext cx="7863840" cy="91440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Predicting Prolonged ICU Stay</a:t>
            </a:r>
            <a:endParaRPr lang="en-US" sz="4400" dirty="0"/>
          </a:p>
        </p:txBody>
      </p:sp>
      <p:sp>
        <p:nvSpPr>
          <p:cNvPr id="3" name="Text 1"/>
          <p:cNvSpPr txBox="1"/>
          <p:nvPr/>
        </p:nvSpPr>
        <p:spPr>
          <a:xfrm>
            <a:off x="640080" y="2286000"/>
            <a:ext cx="7863840" cy="548640"/>
          </a:xfrm>
          <a:prstGeom prst="rect">
            <a:avLst/>
          </a:prstGeom>
          <a:noFill/>
          <a:ln/>
        </p:spPr>
        <p:txBody>
          <a:bodyPr wrap="square" lIns="0" tIns="0" rIns="0" bIns="0" rtlCol="0" anchor="ctr"/>
          <a:lstStyle/>
          <a:p>
            <a:pPr marL="0" indent="0">
              <a:buNone/>
            </a:pPr>
            <a:r>
              <a:rPr lang="en-US" sz="2200" dirty="0">
                <a:solidFill>
                  <a:srgbClr val="9FD8D2"/>
                </a:solidFill>
                <a:latin typeface="Calibri" pitchFamily="34" charset="0"/>
                <a:ea typeface="Calibri" pitchFamily="34" charset="-122"/>
                <a:cs typeface="Calibri" pitchFamily="34" charset="-120"/>
              </a:rPr>
              <a:t>A beginner-friendly machine learning tutorial using MIMIC-III</a:t>
            </a:r>
            <a:endParaRPr lang="en-US" sz="2200" dirty="0"/>
          </a:p>
        </p:txBody>
      </p:sp>
      <p:sp>
        <p:nvSpPr>
          <p:cNvPr id="4" name="Text 2"/>
          <p:cNvSpPr txBox="1"/>
          <p:nvPr/>
        </p:nvSpPr>
        <p:spPr>
          <a:xfrm>
            <a:off x="640080" y="3200400"/>
            <a:ext cx="7863840" cy="457200"/>
          </a:xfrm>
          <a:prstGeom prst="rect">
            <a:avLst/>
          </a:prstGeom>
          <a:noFill/>
          <a:ln/>
        </p:spPr>
        <p:txBody>
          <a:bodyPr wrap="square" lIns="0" tIns="0" rIns="0" bIns="0" rtlCol="0" anchor="ctr"/>
          <a:lstStyle/>
          <a:p>
            <a:pPr marL="0" indent="0">
              <a:buNone/>
            </a:pPr>
            <a:r>
              <a:rPr lang="en-US" sz="1600" dirty="0">
                <a:solidFill>
                  <a:srgbClr val="FFFFFF"/>
                </a:solidFill>
                <a:latin typeface="Courier New" pitchFamily="34" charset="0"/>
                <a:ea typeface="Courier New" pitchFamily="34" charset="-122"/>
                <a:cs typeface="Courier New" pitchFamily="34" charset="-120"/>
              </a:rPr>
              <a:t>pandas  |  scikit-learn  |  seaborn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marL="0" indent="0">
              <a:buNone/>
            </a:pPr>
            <a:r>
              <a:rPr lang="en-US" sz="3200" b="1" dirty="0">
                <a:solidFill>
                  <a:srgbClr val="0B2E3F"/>
                </a:solidFill>
                <a:latin typeface="Cambria" pitchFamily="34" charset="0"/>
                <a:ea typeface="Cambria" pitchFamily="34" charset="-122"/>
                <a:cs typeface="Cambria" pitchFamily="34" charset="-120"/>
              </a:rPr>
              <a:t>The question we are answering</a:t>
            </a:r>
            <a:endParaRPr lang="en-US" sz="3200" dirty="0"/>
          </a:p>
        </p:txBody>
      </p:sp>
      <p:sp>
        <p:nvSpPr>
          <p:cNvPr id="3" name="Shape 1"/>
          <p:cNvSpPr/>
          <p:nvPr/>
        </p:nvSpPr>
        <p:spPr>
          <a:xfrm>
            <a:off x="457200" y="1371600"/>
            <a:ext cx="2606040" cy="1554480"/>
          </a:xfrm>
          <a:prstGeom prst="roundRect">
            <a:avLst>
              <a:gd name="adj" fmla="val 4706"/>
            </a:avLst>
          </a:prstGeom>
          <a:solidFill>
            <a:srgbClr val="E6F4F1"/>
          </a:solidFill>
          <a:ln w="12700">
            <a:solidFill>
              <a:srgbClr val="E6F4F1"/>
            </a:solidFill>
            <a:prstDash val="solid"/>
          </a:ln>
        </p:spPr>
        <p:txBody>
          <a:bodyPr/>
          <a:lstStyle/>
          <a:p>
            <a:endParaRPr lang="en-US"/>
          </a:p>
        </p:txBody>
      </p:sp>
      <p:sp>
        <p:nvSpPr>
          <p:cNvPr id="4" name="Text 2"/>
          <p:cNvSpPr txBox="1"/>
          <p:nvPr/>
        </p:nvSpPr>
        <p:spPr>
          <a:xfrm>
            <a:off x="457200" y="1508760"/>
            <a:ext cx="2606040" cy="731520"/>
          </a:xfrm>
          <a:prstGeom prst="rect">
            <a:avLst/>
          </a:prstGeom>
          <a:noFill/>
          <a:ln/>
        </p:spPr>
        <p:txBody>
          <a:bodyPr wrap="square" lIns="0" tIns="0" rIns="0" bIns="0" rtlCol="0" anchor="ctr"/>
          <a:lstStyle/>
          <a:p>
            <a:pPr marL="0" indent="0" algn="ctr">
              <a:buNone/>
            </a:pPr>
            <a:r>
              <a:rPr lang="en-US" sz="3600" b="1" dirty="0">
                <a:solidFill>
                  <a:srgbClr val="0E7C86"/>
                </a:solidFill>
                <a:latin typeface="Cambria" pitchFamily="34" charset="0"/>
                <a:ea typeface="Cambria" pitchFamily="34" charset="-122"/>
                <a:cs typeface="Cambria" pitchFamily="34" charset="-120"/>
              </a:rPr>
              <a:t>3+ days</a:t>
            </a:r>
            <a:endParaRPr lang="en-US" sz="3600" dirty="0"/>
          </a:p>
        </p:txBody>
      </p:sp>
      <p:sp>
        <p:nvSpPr>
          <p:cNvPr id="5" name="Text 3"/>
          <p:cNvSpPr txBox="1"/>
          <p:nvPr/>
        </p:nvSpPr>
        <p:spPr>
          <a:xfrm>
            <a:off x="594360" y="2286000"/>
            <a:ext cx="2331720" cy="548640"/>
          </a:xfrm>
          <a:prstGeom prst="rect">
            <a:avLst/>
          </a:prstGeom>
          <a:noFill/>
          <a:ln/>
        </p:spPr>
        <p:txBody>
          <a:bodyPr wrap="square" lIns="0" tIns="0" rIns="0" bIns="0" rtlCol="0" anchor="ctr"/>
          <a:lstStyle/>
          <a:p>
            <a:pPr marL="0" indent="0" algn="ctr">
              <a:buNone/>
            </a:pPr>
            <a:r>
              <a:rPr lang="en-US" sz="1400" dirty="0">
                <a:solidFill>
                  <a:srgbClr val="1F2937"/>
                </a:solidFill>
                <a:latin typeface="Calibri" pitchFamily="34" charset="0"/>
                <a:ea typeface="Calibri" pitchFamily="34" charset="-122"/>
                <a:cs typeface="Calibri" pitchFamily="34" charset="-120"/>
              </a:rPr>
              <a:t>defines a prolonged ICU stay</a:t>
            </a:r>
            <a:endParaRPr lang="en-US" sz="1400" dirty="0"/>
          </a:p>
        </p:txBody>
      </p:sp>
      <p:sp>
        <p:nvSpPr>
          <p:cNvPr id="6" name="Shape 4"/>
          <p:cNvSpPr/>
          <p:nvPr/>
        </p:nvSpPr>
        <p:spPr>
          <a:xfrm>
            <a:off x="3246120" y="1371600"/>
            <a:ext cx="2606040" cy="1554480"/>
          </a:xfrm>
          <a:prstGeom prst="roundRect">
            <a:avLst>
              <a:gd name="adj" fmla="val 4706"/>
            </a:avLst>
          </a:prstGeom>
          <a:solidFill>
            <a:srgbClr val="E6F4F1"/>
          </a:solidFill>
          <a:ln w="12700">
            <a:solidFill>
              <a:srgbClr val="E6F4F1"/>
            </a:solidFill>
            <a:prstDash val="solid"/>
          </a:ln>
        </p:spPr>
        <p:txBody>
          <a:bodyPr/>
          <a:lstStyle/>
          <a:p>
            <a:endParaRPr lang="en-US"/>
          </a:p>
        </p:txBody>
      </p:sp>
      <p:sp>
        <p:nvSpPr>
          <p:cNvPr id="7" name="Text 5"/>
          <p:cNvSpPr txBox="1"/>
          <p:nvPr/>
        </p:nvSpPr>
        <p:spPr>
          <a:xfrm>
            <a:off x="3246120" y="1508760"/>
            <a:ext cx="2606040" cy="731520"/>
          </a:xfrm>
          <a:prstGeom prst="rect">
            <a:avLst/>
          </a:prstGeom>
          <a:noFill/>
          <a:ln/>
        </p:spPr>
        <p:txBody>
          <a:bodyPr wrap="square" lIns="0" tIns="0" rIns="0" bIns="0" rtlCol="0" anchor="ctr"/>
          <a:lstStyle/>
          <a:p>
            <a:pPr marL="0" indent="0" algn="ctr">
              <a:buNone/>
            </a:pPr>
            <a:r>
              <a:rPr lang="en-US" sz="3600" b="1" dirty="0">
                <a:solidFill>
                  <a:srgbClr val="0E7C86"/>
                </a:solidFill>
                <a:latin typeface="Cambria" pitchFamily="34" charset="0"/>
                <a:ea typeface="Cambria" pitchFamily="34" charset="-122"/>
                <a:cs typeface="Cambria" pitchFamily="34" charset="-120"/>
              </a:rPr>
              <a:t>24 hours</a:t>
            </a:r>
            <a:endParaRPr lang="en-US" sz="3600" dirty="0"/>
          </a:p>
        </p:txBody>
      </p:sp>
      <p:sp>
        <p:nvSpPr>
          <p:cNvPr id="8" name="Text 6"/>
          <p:cNvSpPr txBox="1"/>
          <p:nvPr/>
        </p:nvSpPr>
        <p:spPr>
          <a:xfrm>
            <a:off x="3383280" y="2286000"/>
            <a:ext cx="2331720" cy="548640"/>
          </a:xfrm>
          <a:prstGeom prst="rect">
            <a:avLst/>
          </a:prstGeom>
          <a:noFill/>
          <a:ln/>
        </p:spPr>
        <p:txBody>
          <a:bodyPr wrap="square" lIns="0" tIns="0" rIns="0" bIns="0" rtlCol="0" anchor="ctr"/>
          <a:lstStyle/>
          <a:p>
            <a:pPr marL="0" indent="0" algn="ctr">
              <a:buNone/>
            </a:pPr>
            <a:r>
              <a:rPr lang="en-US" sz="1400" dirty="0">
                <a:solidFill>
                  <a:srgbClr val="1F2937"/>
                </a:solidFill>
                <a:latin typeface="Calibri" pitchFamily="34" charset="0"/>
                <a:ea typeface="Calibri" pitchFamily="34" charset="-122"/>
                <a:cs typeface="Calibri" pitchFamily="34" charset="-120"/>
              </a:rPr>
              <a:t>of data allowed as input</a:t>
            </a:r>
            <a:endParaRPr lang="en-US" sz="1400" dirty="0"/>
          </a:p>
        </p:txBody>
      </p:sp>
      <p:sp>
        <p:nvSpPr>
          <p:cNvPr id="9" name="Shape 7"/>
          <p:cNvSpPr/>
          <p:nvPr/>
        </p:nvSpPr>
        <p:spPr>
          <a:xfrm>
            <a:off x="6035040" y="1371600"/>
            <a:ext cx="2606040" cy="1554480"/>
          </a:xfrm>
          <a:prstGeom prst="roundRect">
            <a:avLst>
              <a:gd name="adj" fmla="val 4706"/>
            </a:avLst>
          </a:prstGeom>
          <a:solidFill>
            <a:srgbClr val="E6F4F1"/>
          </a:solidFill>
          <a:ln w="12700">
            <a:solidFill>
              <a:srgbClr val="E6F4F1"/>
            </a:solidFill>
            <a:prstDash val="solid"/>
          </a:ln>
        </p:spPr>
        <p:txBody>
          <a:bodyPr/>
          <a:lstStyle/>
          <a:p>
            <a:endParaRPr lang="en-US"/>
          </a:p>
        </p:txBody>
      </p:sp>
      <p:sp>
        <p:nvSpPr>
          <p:cNvPr id="10" name="Text 8"/>
          <p:cNvSpPr txBox="1"/>
          <p:nvPr/>
        </p:nvSpPr>
        <p:spPr>
          <a:xfrm>
            <a:off x="6035040" y="1508760"/>
            <a:ext cx="2606040" cy="731520"/>
          </a:xfrm>
          <a:prstGeom prst="rect">
            <a:avLst/>
          </a:prstGeom>
          <a:noFill/>
          <a:ln/>
        </p:spPr>
        <p:txBody>
          <a:bodyPr wrap="square" lIns="0" tIns="0" rIns="0" bIns="0" rtlCol="0" anchor="ctr"/>
          <a:lstStyle/>
          <a:p>
            <a:pPr marL="0" indent="0" algn="ctr">
              <a:buNone/>
            </a:pPr>
            <a:r>
              <a:rPr lang="en-US" sz="3600" b="1" dirty="0">
                <a:solidFill>
                  <a:srgbClr val="0E7C86"/>
                </a:solidFill>
                <a:latin typeface="Cambria" pitchFamily="34" charset="0"/>
                <a:ea typeface="Cambria" pitchFamily="34" charset="-122"/>
                <a:cs typeface="Cambria" pitchFamily="34" charset="-120"/>
              </a:rPr>
              <a:t>4 tables</a:t>
            </a:r>
            <a:endParaRPr lang="en-US" sz="3600" dirty="0"/>
          </a:p>
        </p:txBody>
      </p:sp>
      <p:sp>
        <p:nvSpPr>
          <p:cNvPr id="11" name="Text 9"/>
          <p:cNvSpPr txBox="1"/>
          <p:nvPr/>
        </p:nvSpPr>
        <p:spPr>
          <a:xfrm>
            <a:off x="6172200" y="2286000"/>
            <a:ext cx="2331720" cy="548640"/>
          </a:xfrm>
          <a:prstGeom prst="rect">
            <a:avLst/>
          </a:prstGeom>
          <a:noFill/>
          <a:ln/>
        </p:spPr>
        <p:txBody>
          <a:bodyPr wrap="square" lIns="0" tIns="0" rIns="0" bIns="0" rtlCol="0" anchor="ctr"/>
          <a:lstStyle/>
          <a:p>
            <a:pPr marL="0" indent="0" algn="ctr">
              <a:buNone/>
            </a:pPr>
            <a:r>
              <a:rPr lang="en-US" sz="1400" dirty="0">
                <a:solidFill>
                  <a:srgbClr val="1F2937"/>
                </a:solidFill>
                <a:latin typeface="Calibri" pitchFamily="34" charset="0"/>
                <a:ea typeface="Calibri" pitchFamily="34" charset="-122"/>
                <a:cs typeface="Calibri" pitchFamily="34" charset="-120"/>
              </a:rPr>
              <a:t>from MIMIC-III</a:t>
            </a:r>
            <a:endParaRPr lang="en-US" sz="1400" dirty="0"/>
          </a:p>
        </p:txBody>
      </p:sp>
      <p:sp>
        <p:nvSpPr>
          <p:cNvPr id="12" name="Text 10"/>
          <p:cNvSpPr txBox="1"/>
          <p:nvPr/>
        </p:nvSpPr>
        <p:spPr>
          <a:xfrm>
            <a:off x="457200" y="3291840"/>
            <a:ext cx="8229600" cy="1280160"/>
          </a:xfrm>
          <a:prstGeom prst="rect">
            <a:avLst/>
          </a:prstGeom>
          <a:noFill/>
          <a:ln/>
        </p:spPr>
        <p:txBody>
          <a:bodyPr wrap="square" lIns="0" tIns="0" rIns="0" bIns="0" rtlCol="0" anchor="t"/>
          <a:lstStyle/>
          <a:p>
            <a:pPr marL="0" indent="0">
              <a:buNone/>
            </a:pPr>
            <a:r>
              <a:rPr lang="en-US" sz="1800" dirty="0">
                <a:solidFill>
                  <a:srgbClr val="1F2937"/>
                </a:solidFill>
                <a:latin typeface="Calibri" pitchFamily="34" charset="0"/>
                <a:ea typeface="Calibri" pitchFamily="34" charset="-122"/>
                <a:cs typeface="Calibri" pitchFamily="34" charset="-120"/>
              </a:rPr>
              <a:t>ICU beds and staff are limited. An early estimate of a long stay can help with planning and with spotting patients who may need extra attention. This is a binary classification problem: prolonged (1) or not (0).</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marL="0" indent="0">
              <a:buNone/>
            </a:pPr>
            <a:r>
              <a:rPr lang="en-US" sz="3200" b="1" dirty="0">
                <a:solidFill>
                  <a:srgbClr val="0B2E3F"/>
                </a:solidFill>
                <a:latin typeface="Cambria" pitchFamily="34" charset="0"/>
                <a:ea typeface="Cambria" pitchFamily="34" charset="-122"/>
                <a:cs typeface="Cambria" pitchFamily="34" charset="-120"/>
              </a:rPr>
              <a:t>The data: four MIMIC-III tables</a:t>
            </a:r>
            <a:endParaRPr lang="en-US" sz="3200" dirty="0"/>
          </a:p>
        </p:txBody>
      </p:sp>
      <p:sp>
        <p:nvSpPr>
          <p:cNvPr id="3" name="Shape 1"/>
          <p:cNvSpPr/>
          <p:nvPr/>
        </p:nvSpPr>
        <p:spPr>
          <a:xfrm>
            <a:off x="457200" y="1280160"/>
            <a:ext cx="3977640" cy="1463040"/>
          </a:xfrm>
          <a:prstGeom prst="roundRect">
            <a:avLst>
              <a:gd name="adj" fmla="val 5000"/>
            </a:avLst>
          </a:prstGeom>
          <a:solidFill>
            <a:srgbClr val="E6F4F1"/>
          </a:solidFill>
          <a:ln w="12700">
            <a:solidFill>
              <a:srgbClr val="E6F4F1"/>
            </a:solidFill>
            <a:prstDash val="solid"/>
          </a:ln>
        </p:spPr>
        <p:txBody>
          <a:bodyPr/>
          <a:lstStyle/>
          <a:p>
            <a:endParaRPr lang="en-US"/>
          </a:p>
        </p:txBody>
      </p:sp>
      <p:sp>
        <p:nvSpPr>
          <p:cNvPr id="4" name="Text 2"/>
          <p:cNvSpPr txBox="1"/>
          <p:nvPr/>
        </p:nvSpPr>
        <p:spPr>
          <a:xfrm>
            <a:off x="640080" y="1389888"/>
            <a:ext cx="3611880" cy="365760"/>
          </a:xfrm>
          <a:prstGeom prst="rect">
            <a:avLst/>
          </a:prstGeom>
          <a:noFill/>
          <a:ln/>
        </p:spPr>
        <p:txBody>
          <a:bodyPr wrap="square" lIns="0" tIns="0" rIns="0" bIns="0" rtlCol="0" anchor="ctr"/>
          <a:lstStyle/>
          <a:p>
            <a:pPr marL="0" indent="0">
              <a:buNone/>
            </a:pPr>
            <a:r>
              <a:rPr lang="en-US" sz="1600" b="1" dirty="0">
                <a:solidFill>
                  <a:srgbClr val="0B2E3F"/>
                </a:solidFill>
                <a:latin typeface="Cambria" pitchFamily="34" charset="0"/>
                <a:ea typeface="Cambria" pitchFamily="34" charset="-122"/>
                <a:cs typeface="Cambria" pitchFamily="34" charset="-120"/>
              </a:rPr>
              <a:t>PATIENTS</a:t>
            </a:r>
            <a:endParaRPr lang="en-US" sz="1600" dirty="0"/>
          </a:p>
        </p:txBody>
      </p:sp>
      <p:sp>
        <p:nvSpPr>
          <p:cNvPr id="5" name="Text 3"/>
          <p:cNvSpPr txBox="1"/>
          <p:nvPr/>
        </p:nvSpPr>
        <p:spPr>
          <a:xfrm>
            <a:off x="640080" y="1783080"/>
            <a:ext cx="3611880" cy="868680"/>
          </a:xfrm>
          <a:prstGeom prst="rect">
            <a:avLst/>
          </a:prstGeom>
          <a:noFill/>
          <a:ln/>
        </p:spPr>
        <p:txBody>
          <a:bodyPr wrap="square" lIns="0" tIns="0" rIns="0" bIns="0" rtlCol="0" anchor="t"/>
          <a:lstStyle/>
          <a:p>
            <a:pPr marL="0" indent="0">
              <a:buNone/>
            </a:pPr>
            <a:r>
              <a:rPr lang="en-US" sz="1400" dirty="0">
                <a:solidFill>
                  <a:srgbClr val="1F2937"/>
                </a:solidFill>
                <a:latin typeface="Calibri" pitchFamily="34" charset="0"/>
                <a:ea typeface="Calibri" pitchFamily="34" charset="-122"/>
                <a:cs typeface="Calibri" pitchFamily="34" charset="-120"/>
              </a:rPr>
              <a:t>Gender and date of birth. We use these to compute age.</a:t>
            </a:r>
            <a:endParaRPr lang="en-US" sz="1400" dirty="0"/>
          </a:p>
        </p:txBody>
      </p:sp>
      <p:sp>
        <p:nvSpPr>
          <p:cNvPr id="6" name="Shape 4"/>
          <p:cNvSpPr/>
          <p:nvPr/>
        </p:nvSpPr>
        <p:spPr>
          <a:xfrm>
            <a:off x="4709160" y="1280160"/>
            <a:ext cx="3977640" cy="1463040"/>
          </a:xfrm>
          <a:prstGeom prst="roundRect">
            <a:avLst>
              <a:gd name="adj" fmla="val 5000"/>
            </a:avLst>
          </a:prstGeom>
          <a:solidFill>
            <a:srgbClr val="E6F4F1"/>
          </a:solidFill>
          <a:ln w="12700">
            <a:solidFill>
              <a:srgbClr val="E6F4F1"/>
            </a:solidFill>
            <a:prstDash val="solid"/>
          </a:ln>
        </p:spPr>
        <p:txBody>
          <a:bodyPr/>
          <a:lstStyle/>
          <a:p>
            <a:endParaRPr lang="en-US"/>
          </a:p>
        </p:txBody>
      </p:sp>
      <p:sp>
        <p:nvSpPr>
          <p:cNvPr id="7" name="Text 5"/>
          <p:cNvSpPr txBox="1"/>
          <p:nvPr/>
        </p:nvSpPr>
        <p:spPr>
          <a:xfrm>
            <a:off x="4892040" y="1389888"/>
            <a:ext cx="3611880" cy="365760"/>
          </a:xfrm>
          <a:prstGeom prst="rect">
            <a:avLst/>
          </a:prstGeom>
          <a:noFill/>
          <a:ln/>
        </p:spPr>
        <p:txBody>
          <a:bodyPr wrap="square" lIns="0" tIns="0" rIns="0" bIns="0" rtlCol="0" anchor="ctr"/>
          <a:lstStyle/>
          <a:p>
            <a:pPr marL="0" indent="0">
              <a:buNone/>
            </a:pPr>
            <a:r>
              <a:rPr lang="en-US" sz="1600" b="1" dirty="0">
                <a:solidFill>
                  <a:srgbClr val="0B2E3F"/>
                </a:solidFill>
                <a:latin typeface="Cambria" pitchFamily="34" charset="0"/>
                <a:ea typeface="Cambria" pitchFamily="34" charset="-122"/>
                <a:cs typeface="Cambria" pitchFamily="34" charset="-120"/>
              </a:rPr>
              <a:t>ADMISSIONS</a:t>
            </a:r>
            <a:endParaRPr lang="en-US" sz="1600" dirty="0"/>
          </a:p>
        </p:txBody>
      </p:sp>
      <p:sp>
        <p:nvSpPr>
          <p:cNvPr id="8" name="Text 6"/>
          <p:cNvSpPr txBox="1"/>
          <p:nvPr/>
        </p:nvSpPr>
        <p:spPr>
          <a:xfrm>
            <a:off x="4892040" y="1783080"/>
            <a:ext cx="3611880" cy="868680"/>
          </a:xfrm>
          <a:prstGeom prst="rect">
            <a:avLst/>
          </a:prstGeom>
          <a:noFill/>
          <a:ln/>
        </p:spPr>
        <p:txBody>
          <a:bodyPr wrap="square" lIns="0" tIns="0" rIns="0" bIns="0" rtlCol="0" anchor="t"/>
          <a:lstStyle/>
          <a:p>
            <a:pPr marL="0" indent="0">
              <a:buNone/>
            </a:pPr>
            <a:r>
              <a:rPr lang="en-US" sz="1400" dirty="0">
                <a:solidFill>
                  <a:srgbClr val="1F2937"/>
                </a:solidFill>
                <a:latin typeface="Calibri" pitchFamily="34" charset="0"/>
                <a:ea typeface="Calibri" pitchFamily="34" charset="-122"/>
                <a:cs typeface="Calibri" pitchFamily="34" charset="-120"/>
              </a:rPr>
              <a:t>One row per hospital visit. We use the admission type (emergency, elective, urgent).</a:t>
            </a:r>
            <a:endParaRPr lang="en-US" sz="1400" dirty="0"/>
          </a:p>
        </p:txBody>
      </p:sp>
      <p:sp>
        <p:nvSpPr>
          <p:cNvPr id="9" name="Shape 7"/>
          <p:cNvSpPr/>
          <p:nvPr/>
        </p:nvSpPr>
        <p:spPr>
          <a:xfrm>
            <a:off x="457200" y="2926080"/>
            <a:ext cx="3977640" cy="1554480"/>
          </a:xfrm>
          <a:prstGeom prst="roundRect">
            <a:avLst>
              <a:gd name="adj" fmla="val 4706"/>
            </a:avLst>
          </a:prstGeom>
          <a:solidFill>
            <a:srgbClr val="E6F4F1"/>
          </a:solidFill>
          <a:ln w="12700">
            <a:solidFill>
              <a:srgbClr val="E6F4F1"/>
            </a:solidFill>
            <a:prstDash val="solid"/>
          </a:ln>
        </p:spPr>
        <p:txBody>
          <a:bodyPr/>
          <a:lstStyle/>
          <a:p>
            <a:endParaRPr lang="en-US"/>
          </a:p>
        </p:txBody>
      </p:sp>
      <p:sp>
        <p:nvSpPr>
          <p:cNvPr id="10" name="Text 8"/>
          <p:cNvSpPr txBox="1"/>
          <p:nvPr/>
        </p:nvSpPr>
        <p:spPr>
          <a:xfrm>
            <a:off x="640080" y="3035808"/>
            <a:ext cx="3611880" cy="365760"/>
          </a:xfrm>
          <a:prstGeom prst="rect">
            <a:avLst/>
          </a:prstGeom>
          <a:noFill/>
          <a:ln/>
        </p:spPr>
        <p:txBody>
          <a:bodyPr wrap="square" lIns="0" tIns="0" rIns="0" bIns="0" rtlCol="0" anchor="ctr"/>
          <a:lstStyle/>
          <a:p>
            <a:pPr marL="0" indent="0">
              <a:buNone/>
            </a:pPr>
            <a:r>
              <a:rPr lang="en-US" sz="1600" b="1" dirty="0">
                <a:solidFill>
                  <a:srgbClr val="0B2E3F"/>
                </a:solidFill>
                <a:latin typeface="Cambria" pitchFamily="34" charset="0"/>
                <a:ea typeface="Cambria" pitchFamily="34" charset="-122"/>
                <a:cs typeface="Cambria" pitchFamily="34" charset="-120"/>
              </a:rPr>
              <a:t>ICUSTAYS</a:t>
            </a:r>
            <a:endParaRPr lang="en-US" sz="1600" dirty="0"/>
          </a:p>
        </p:txBody>
      </p:sp>
      <p:sp>
        <p:nvSpPr>
          <p:cNvPr id="11" name="Text 9"/>
          <p:cNvSpPr txBox="1"/>
          <p:nvPr/>
        </p:nvSpPr>
        <p:spPr>
          <a:xfrm>
            <a:off x="640080" y="3429000"/>
            <a:ext cx="3611880" cy="960120"/>
          </a:xfrm>
          <a:prstGeom prst="rect">
            <a:avLst/>
          </a:prstGeom>
          <a:noFill/>
          <a:ln/>
        </p:spPr>
        <p:txBody>
          <a:bodyPr wrap="square" lIns="0" tIns="0" rIns="0" bIns="0" rtlCol="0" anchor="t"/>
          <a:lstStyle/>
          <a:p>
            <a:pPr marL="0" indent="0">
              <a:buNone/>
            </a:pPr>
            <a:r>
              <a:rPr lang="en-US" sz="1400" dirty="0">
                <a:solidFill>
                  <a:srgbClr val="1F2937"/>
                </a:solidFill>
                <a:latin typeface="Calibri" pitchFamily="34" charset="0"/>
                <a:ea typeface="Calibri" pitchFamily="34" charset="-122"/>
                <a:cs typeface="Calibri" pitchFamily="34" charset="-120"/>
              </a:rPr>
              <a:t>ICU admission time (INTIME) and length of stay (LOS, in days). LOS gives us the label.</a:t>
            </a:r>
            <a:endParaRPr lang="en-US" sz="1400" dirty="0"/>
          </a:p>
        </p:txBody>
      </p:sp>
      <p:sp>
        <p:nvSpPr>
          <p:cNvPr id="12" name="Shape 10"/>
          <p:cNvSpPr/>
          <p:nvPr/>
        </p:nvSpPr>
        <p:spPr>
          <a:xfrm>
            <a:off x="4709160" y="2926080"/>
            <a:ext cx="3977640" cy="1554480"/>
          </a:xfrm>
          <a:prstGeom prst="roundRect">
            <a:avLst>
              <a:gd name="adj" fmla="val 4706"/>
            </a:avLst>
          </a:prstGeom>
          <a:solidFill>
            <a:srgbClr val="E6F4F1"/>
          </a:solidFill>
          <a:ln w="12700">
            <a:solidFill>
              <a:srgbClr val="E6F4F1"/>
            </a:solidFill>
            <a:prstDash val="solid"/>
          </a:ln>
        </p:spPr>
        <p:txBody>
          <a:bodyPr/>
          <a:lstStyle/>
          <a:p>
            <a:endParaRPr lang="en-US"/>
          </a:p>
        </p:txBody>
      </p:sp>
      <p:sp>
        <p:nvSpPr>
          <p:cNvPr id="13" name="Text 11"/>
          <p:cNvSpPr txBox="1"/>
          <p:nvPr/>
        </p:nvSpPr>
        <p:spPr>
          <a:xfrm>
            <a:off x="4892040" y="3035808"/>
            <a:ext cx="3611880" cy="365760"/>
          </a:xfrm>
          <a:prstGeom prst="rect">
            <a:avLst/>
          </a:prstGeom>
          <a:noFill/>
          <a:ln/>
        </p:spPr>
        <p:txBody>
          <a:bodyPr wrap="square" lIns="0" tIns="0" rIns="0" bIns="0" rtlCol="0" anchor="ctr"/>
          <a:lstStyle/>
          <a:p>
            <a:pPr marL="0" indent="0">
              <a:buNone/>
            </a:pPr>
            <a:r>
              <a:rPr lang="en-US" sz="1600" b="1" dirty="0">
                <a:solidFill>
                  <a:srgbClr val="0B2E3F"/>
                </a:solidFill>
                <a:latin typeface="Cambria" pitchFamily="34" charset="0"/>
                <a:ea typeface="Cambria" pitchFamily="34" charset="-122"/>
                <a:cs typeface="Cambria" pitchFamily="34" charset="-120"/>
              </a:rPr>
              <a:t>LABEVENTS</a:t>
            </a:r>
            <a:endParaRPr lang="en-US" sz="1600" dirty="0"/>
          </a:p>
        </p:txBody>
      </p:sp>
      <p:sp>
        <p:nvSpPr>
          <p:cNvPr id="14" name="Text 12"/>
          <p:cNvSpPr txBox="1"/>
          <p:nvPr/>
        </p:nvSpPr>
        <p:spPr>
          <a:xfrm>
            <a:off x="4892040" y="3429000"/>
            <a:ext cx="3611880" cy="960120"/>
          </a:xfrm>
          <a:prstGeom prst="rect">
            <a:avLst/>
          </a:prstGeom>
          <a:noFill/>
          <a:ln/>
        </p:spPr>
        <p:txBody>
          <a:bodyPr wrap="square" lIns="0" tIns="0" rIns="0" bIns="0" rtlCol="0" anchor="t"/>
          <a:lstStyle/>
          <a:p>
            <a:pPr marL="0" indent="0">
              <a:buNone/>
            </a:pPr>
            <a:r>
              <a:rPr lang="en-US" sz="1400" dirty="0">
                <a:solidFill>
                  <a:srgbClr val="1F2937"/>
                </a:solidFill>
                <a:latin typeface="Calibri" pitchFamily="34" charset="0"/>
                <a:ea typeface="Calibri" pitchFamily="34" charset="-122"/>
                <a:cs typeface="Calibri" pitchFamily="34" charset="-120"/>
              </a:rPr>
              <a:t>Lab results with timestamps. Huge, so we read it in chunks and keep 10 common labs.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marL="0" indent="0">
              <a:buNone/>
            </a:pPr>
            <a:r>
              <a:rPr lang="en-US" sz="3200" b="1" dirty="0">
                <a:solidFill>
                  <a:srgbClr val="0B2E3F"/>
                </a:solidFill>
                <a:latin typeface="Cambria" pitchFamily="34" charset="0"/>
                <a:ea typeface="Cambria" pitchFamily="34" charset="-122"/>
                <a:cs typeface="Cambria" pitchFamily="34" charset="-120"/>
              </a:rPr>
              <a:t>The pipeline at a glance</a:t>
            </a:r>
            <a:endParaRPr lang="en-US" sz="3200" dirty="0"/>
          </a:p>
        </p:txBody>
      </p:sp>
      <p:sp>
        <p:nvSpPr>
          <p:cNvPr id="3" name="Shape 1"/>
          <p:cNvSpPr/>
          <p:nvPr/>
        </p:nvSpPr>
        <p:spPr>
          <a:xfrm>
            <a:off x="457200" y="1371600"/>
            <a:ext cx="2606040" cy="1371600"/>
          </a:xfrm>
          <a:prstGeom prst="roundRect">
            <a:avLst>
              <a:gd name="adj" fmla="val 5333"/>
            </a:avLst>
          </a:prstGeom>
          <a:solidFill>
            <a:srgbClr val="0E7C86"/>
          </a:solidFill>
          <a:ln w="12700">
            <a:solidFill>
              <a:srgbClr val="0E7C86"/>
            </a:solidFill>
            <a:prstDash val="solid"/>
          </a:ln>
        </p:spPr>
        <p:txBody>
          <a:bodyPr/>
          <a:lstStyle/>
          <a:p>
            <a:endParaRPr lang="en-US"/>
          </a:p>
        </p:txBody>
      </p:sp>
      <p:sp>
        <p:nvSpPr>
          <p:cNvPr id="4" name="Text 2"/>
          <p:cNvSpPr txBox="1"/>
          <p:nvPr/>
        </p:nvSpPr>
        <p:spPr>
          <a:xfrm>
            <a:off x="640080" y="1463040"/>
            <a:ext cx="548640" cy="548640"/>
          </a:xfrm>
          <a:prstGeom prst="rect">
            <a:avLst/>
          </a:prstGeom>
          <a:noFill/>
          <a:ln/>
        </p:spPr>
        <p:txBody>
          <a:bodyPr wrap="square" lIns="0" tIns="0" rIns="0" bIns="0" rtlCol="0" anchor="ctr"/>
          <a:lstStyle/>
          <a:p>
            <a:pPr marL="0" indent="0">
              <a:buNone/>
            </a:pPr>
            <a:r>
              <a:rPr lang="en-US" sz="2800" b="1" dirty="0">
                <a:solidFill>
                  <a:srgbClr val="9FD8D2"/>
                </a:solidFill>
                <a:latin typeface="Cambria" pitchFamily="34" charset="0"/>
                <a:ea typeface="Cambria" pitchFamily="34" charset="-122"/>
                <a:cs typeface="Cambria" pitchFamily="34" charset="-120"/>
              </a:rPr>
              <a:t>1</a:t>
            </a:r>
            <a:endParaRPr lang="en-US" sz="2800" dirty="0"/>
          </a:p>
        </p:txBody>
      </p:sp>
      <p:sp>
        <p:nvSpPr>
          <p:cNvPr id="5" name="Text 3"/>
          <p:cNvSpPr txBox="1"/>
          <p:nvPr/>
        </p:nvSpPr>
        <p:spPr>
          <a:xfrm>
            <a:off x="640080" y="2057400"/>
            <a:ext cx="2240280" cy="54864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Build cohort</a:t>
            </a:r>
            <a:endParaRPr lang="en-US" sz="1800" dirty="0"/>
          </a:p>
        </p:txBody>
      </p:sp>
      <p:sp>
        <p:nvSpPr>
          <p:cNvPr id="6" name="Shape 4"/>
          <p:cNvSpPr/>
          <p:nvPr/>
        </p:nvSpPr>
        <p:spPr>
          <a:xfrm>
            <a:off x="3246120" y="1371600"/>
            <a:ext cx="2606040" cy="1371600"/>
          </a:xfrm>
          <a:prstGeom prst="roundRect">
            <a:avLst>
              <a:gd name="adj" fmla="val 5333"/>
            </a:avLst>
          </a:prstGeom>
          <a:solidFill>
            <a:srgbClr val="0B2E3F"/>
          </a:solidFill>
          <a:ln w="12700">
            <a:solidFill>
              <a:srgbClr val="0B2E3F"/>
            </a:solidFill>
            <a:prstDash val="solid"/>
          </a:ln>
        </p:spPr>
        <p:txBody>
          <a:bodyPr/>
          <a:lstStyle/>
          <a:p>
            <a:endParaRPr lang="en-US"/>
          </a:p>
        </p:txBody>
      </p:sp>
      <p:sp>
        <p:nvSpPr>
          <p:cNvPr id="7" name="Text 5"/>
          <p:cNvSpPr txBox="1"/>
          <p:nvPr/>
        </p:nvSpPr>
        <p:spPr>
          <a:xfrm>
            <a:off x="3429000" y="1463040"/>
            <a:ext cx="548640" cy="548640"/>
          </a:xfrm>
          <a:prstGeom prst="rect">
            <a:avLst/>
          </a:prstGeom>
          <a:noFill/>
          <a:ln/>
        </p:spPr>
        <p:txBody>
          <a:bodyPr wrap="square" lIns="0" tIns="0" rIns="0" bIns="0" rtlCol="0" anchor="ctr"/>
          <a:lstStyle/>
          <a:p>
            <a:pPr marL="0" indent="0">
              <a:buNone/>
            </a:pPr>
            <a:r>
              <a:rPr lang="en-US" sz="2800" b="1" dirty="0">
                <a:solidFill>
                  <a:srgbClr val="9FD8D2"/>
                </a:solidFill>
                <a:latin typeface="Cambria" pitchFamily="34" charset="0"/>
                <a:ea typeface="Cambria" pitchFamily="34" charset="-122"/>
                <a:cs typeface="Cambria" pitchFamily="34" charset="-120"/>
              </a:rPr>
              <a:t>2</a:t>
            </a:r>
            <a:endParaRPr lang="en-US" sz="2800" dirty="0"/>
          </a:p>
        </p:txBody>
      </p:sp>
      <p:sp>
        <p:nvSpPr>
          <p:cNvPr id="8" name="Text 6"/>
          <p:cNvSpPr txBox="1"/>
          <p:nvPr/>
        </p:nvSpPr>
        <p:spPr>
          <a:xfrm>
            <a:off x="3429000" y="2057400"/>
            <a:ext cx="2240280" cy="54864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Create label</a:t>
            </a:r>
            <a:endParaRPr lang="en-US" sz="1800" dirty="0"/>
          </a:p>
        </p:txBody>
      </p:sp>
      <p:sp>
        <p:nvSpPr>
          <p:cNvPr id="9" name="Shape 7"/>
          <p:cNvSpPr/>
          <p:nvPr/>
        </p:nvSpPr>
        <p:spPr>
          <a:xfrm>
            <a:off x="6035040" y="1371600"/>
            <a:ext cx="2606040" cy="1371600"/>
          </a:xfrm>
          <a:prstGeom prst="roundRect">
            <a:avLst>
              <a:gd name="adj" fmla="val 5333"/>
            </a:avLst>
          </a:prstGeom>
          <a:solidFill>
            <a:srgbClr val="0E7C86"/>
          </a:solidFill>
          <a:ln w="12700">
            <a:solidFill>
              <a:srgbClr val="0E7C86"/>
            </a:solidFill>
            <a:prstDash val="solid"/>
          </a:ln>
        </p:spPr>
        <p:txBody>
          <a:bodyPr/>
          <a:lstStyle/>
          <a:p>
            <a:endParaRPr lang="en-US"/>
          </a:p>
        </p:txBody>
      </p:sp>
      <p:sp>
        <p:nvSpPr>
          <p:cNvPr id="10" name="Text 8"/>
          <p:cNvSpPr txBox="1"/>
          <p:nvPr/>
        </p:nvSpPr>
        <p:spPr>
          <a:xfrm>
            <a:off x="6217920" y="1463040"/>
            <a:ext cx="548640" cy="548640"/>
          </a:xfrm>
          <a:prstGeom prst="rect">
            <a:avLst/>
          </a:prstGeom>
          <a:noFill/>
          <a:ln/>
        </p:spPr>
        <p:txBody>
          <a:bodyPr wrap="square" lIns="0" tIns="0" rIns="0" bIns="0" rtlCol="0" anchor="ctr"/>
          <a:lstStyle/>
          <a:p>
            <a:pPr marL="0" indent="0">
              <a:buNone/>
            </a:pPr>
            <a:r>
              <a:rPr lang="en-US" sz="2800" b="1" dirty="0">
                <a:solidFill>
                  <a:srgbClr val="9FD8D2"/>
                </a:solidFill>
                <a:latin typeface="Cambria" pitchFamily="34" charset="0"/>
                <a:ea typeface="Cambria" pitchFamily="34" charset="-122"/>
                <a:cs typeface="Cambria" pitchFamily="34" charset="-120"/>
              </a:rPr>
              <a:t>3</a:t>
            </a:r>
            <a:endParaRPr lang="en-US" sz="2800" dirty="0"/>
          </a:p>
        </p:txBody>
      </p:sp>
      <p:sp>
        <p:nvSpPr>
          <p:cNvPr id="11" name="Text 9"/>
          <p:cNvSpPr txBox="1"/>
          <p:nvPr/>
        </p:nvSpPr>
        <p:spPr>
          <a:xfrm>
            <a:off x="6217920" y="2057400"/>
            <a:ext cx="2240280" cy="54864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Lab features (24h)</a:t>
            </a:r>
            <a:endParaRPr lang="en-US" sz="1800" dirty="0"/>
          </a:p>
        </p:txBody>
      </p:sp>
      <p:sp>
        <p:nvSpPr>
          <p:cNvPr id="12" name="Shape 10"/>
          <p:cNvSpPr/>
          <p:nvPr/>
        </p:nvSpPr>
        <p:spPr>
          <a:xfrm>
            <a:off x="457200" y="3108960"/>
            <a:ext cx="2606040" cy="1371600"/>
          </a:xfrm>
          <a:prstGeom prst="roundRect">
            <a:avLst>
              <a:gd name="adj" fmla="val 5333"/>
            </a:avLst>
          </a:prstGeom>
          <a:solidFill>
            <a:srgbClr val="0B2E3F"/>
          </a:solidFill>
          <a:ln w="12700">
            <a:solidFill>
              <a:srgbClr val="0B2E3F"/>
            </a:solidFill>
            <a:prstDash val="solid"/>
          </a:ln>
        </p:spPr>
        <p:txBody>
          <a:bodyPr/>
          <a:lstStyle/>
          <a:p>
            <a:endParaRPr lang="en-US"/>
          </a:p>
        </p:txBody>
      </p:sp>
      <p:sp>
        <p:nvSpPr>
          <p:cNvPr id="13" name="Text 11"/>
          <p:cNvSpPr txBox="1"/>
          <p:nvPr/>
        </p:nvSpPr>
        <p:spPr>
          <a:xfrm>
            <a:off x="640080" y="3200400"/>
            <a:ext cx="548640" cy="548640"/>
          </a:xfrm>
          <a:prstGeom prst="rect">
            <a:avLst/>
          </a:prstGeom>
          <a:noFill/>
          <a:ln/>
        </p:spPr>
        <p:txBody>
          <a:bodyPr wrap="square" lIns="0" tIns="0" rIns="0" bIns="0" rtlCol="0" anchor="ctr"/>
          <a:lstStyle/>
          <a:p>
            <a:pPr marL="0" indent="0">
              <a:buNone/>
            </a:pPr>
            <a:r>
              <a:rPr lang="en-US" sz="2800" b="1" dirty="0">
                <a:solidFill>
                  <a:srgbClr val="9FD8D2"/>
                </a:solidFill>
                <a:latin typeface="Cambria" pitchFamily="34" charset="0"/>
                <a:ea typeface="Cambria" pitchFamily="34" charset="-122"/>
                <a:cs typeface="Cambria" pitchFamily="34" charset="-120"/>
              </a:rPr>
              <a:t>4</a:t>
            </a:r>
            <a:endParaRPr lang="en-US" sz="2800" dirty="0"/>
          </a:p>
        </p:txBody>
      </p:sp>
      <p:sp>
        <p:nvSpPr>
          <p:cNvPr id="14" name="Text 12"/>
          <p:cNvSpPr txBox="1"/>
          <p:nvPr/>
        </p:nvSpPr>
        <p:spPr>
          <a:xfrm>
            <a:off x="640080" y="3794760"/>
            <a:ext cx="2240280" cy="54864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Split data</a:t>
            </a:r>
            <a:endParaRPr lang="en-US" sz="1800" dirty="0"/>
          </a:p>
        </p:txBody>
      </p:sp>
      <p:sp>
        <p:nvSpPr>
          <p:cNvPr id="15" name="Shape 13"/>
          <p:cNvSpPr/>
          <p:nvPr/>
        </p:nvSpPr>
        <p:spPr>
          <a:xfrm>
            <a:off x="3246120" y="3108960"/>
            <a:ext cx="2606040" cy="1371600"/>
          </a:xfrm>
          <a:prstGeom prst="roundRect">
            <a:avLst>
              <a:gd name="adj" fmla="val 5333"/>
            </a:avLst>
          </a:prstGeom>
          <a:solidFill>
            <a:srgbClr val="0E7C86"/>
          </a:solidFill>
          <a:ln w="12700">
            <a:solidFill>
              <a:srgbClr val="0E7C86"/>
            </a:solidFill>
            <a:prstDash val="solid"/>
          </a:ln>
        </p:spPr>
        <p:txBody>
          <a:bodyPr/>
          <a:lstStyle/>
          <a:p>
            <a:endParaRPr lang="en-US"/>
          </a:p>
        </p:txBody>
      </p:sp>
      <p:sp>
        <p:nvSpPr>
          <p:cNvPr id="16" name="Text 14"/>
          <p:cNvSpPr txBox="1"/>
          <p:nvPr/>
        </p:nvSpPr>
        <p:spPr>
          <a:xfrm>
            <a:off x="3429000" y="3200400"/>
            <a:ext cx="548640" cy="548640"/>
          </a:xfrm>
          <a:prstGeom prst="rect">
            <a:avLst/>
          </a:prstGeom>
          <a:noFill/>
          <a:ln/>
        </p:spPr>
        <p:txBody>
          <a:bodyPr wrap="square" lIns="0" tIns="0" rIns="0" bIns="0" rtlCol="0" anchor="ctr"/>
          <a:lstStyle/>
          <a:p>
            <a:pPr marL="0" indent="0">
              <a:buNone/>
            </a:pPr>
            <a:r>
              <a:rPr lang="en-US" sz="2800" b="1" dirty="0">
                <a:solidFill>
                  <a:srgbClr val="9FD8D2"/>
                </a:solidFill>
                <a:latin typeface="Cambria" pitchFamily="34" charset="0"/>
                <a:ea typeface="Cambria" pitchFamily="34" charset="-122"/>
                <a:cs typeface="Cambria" pitchFamily="34" charset="-120"/>
              </a:rPr>
              <a:t>5</a:t>
            </a:r>
            <a:endParaRPr lang="en-US" sz="2800" dirty="0"/>
          </a:p>
        </p:txBody>
      </p:sp>
      <p:sp>
        <p:nvSpPr>
          <p:cNvPr id="17" name="Text 15"/>
          <p:cNvSpPr txBox="1"/>
          <p:nvPr/>
        </p:nvSpPr>
        <p:spPr>
          <a:xfrm>
            <a:off x="3429000" y="3794760"/>
            <a:ext cx="2240280" cy="54864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Train models</a:t>
            </a:r>
            <a:endParaRPr lang="en-US" sz="1800" dirty="0"/>
          </a:p>
        </p:txBody>
      </p:sp>
      <p:sp>
        <p:nvSpPr>
          <p:cNvPr id="18" name="Shape 16"/>
          <p:cNvSpPr/>
          <p:nvPr/>
        </p:nvSpPr>
        <p:spPr>
          <a:xfrm>
            <a:off x="6035040" y="3108960"/>
            <a:ext cx="2606040" cy="1371600"/>
          </a:xfrm>
          <a:prstGeom prst="roundRect">
            <a:avLst>
              <a:gd name="adj" fmla="val 5333"/>
            </a:avLst>
          </a:prstGeom>
          <a:solidFill>
            <a:srgbClr val="0B2E3F"/>
          </a:solidFill>
          <a:ln w="12700">
            <a:solidFill>
              <a:srgbClr val="0B2E3F"/>
            </a:solidFill>
            <a:prstDash val="solid"/>
          </a:ln>
        </p:spPr>
        <p:txBody>
          <a:bodyPr/>
          <a:lstStyle/>
          <a:p>
            <a:endParaRPr lang="en-US"/>
          </a:p>
        </p:txBody>
      </p:sp>
      <p:sp>
        <p:nvSpPr>
          <p:cNvPr id="19" name="Text 17"/>
          <p:cNvSpPr txBox="1"/>
          <p:nvPr/>
        </p:nvSpPr>
        <p:spPr>
          <a:xfrm>
            <a:off x="6217920" y="3200400"/>
            <a:ext cx="548640" cy="548640"/>
          </a:xfrm>
          <a:prstGeom prst="rect">
            <a:avLst/>
          </a:prstGeom>
          <a:noFill/>
          <a:ln/>
        </p:spPr>
        <p:txBody>
          <a:bodyPr wrap="square" lIns="0" tIns="0" rIns="0" bIns="0" rtlCol="0" anchor="ctr"/>
          <a:lstStyle/>
          <a:p>
            <a:pPr marL="0" indent="0">
              <a:buNone/>
            </a:pPr>
            <a:r>
              <a:rPr lang="en-US" sz="2800" b="1" dirty="0">
                <a:solidFill>
                  <a:srgbClr val="9FD8D2"/>
                </a:solidFill>
                <a:latin typeface="Cambria" pitchFamily="34" charset="0"/>
                <a:ea typeface="Cambria" pitchFamily="34" charset="-122"/>
                <a:cs typeface="Cambria" pitchFamily="34" charset="-120"/>
              </a:rPr>
              <a:t>6</a:t>
            </a:r>
            <a:endParaRPr lang="en-US" sz="2800" dirty="0"/>
          </a:p>
        </p:txBody>
      </p:sp>
      <p:sp>
        <p:nvSpPr>
          <p:cNvPr id="20" name="Text 18"/>
          <p:cNvSpPr txBox="1"/>
          <p:nvPr/>
        </p:nvSpPr>
        <p:spPr>
          <a:xfrm>
            <a:off x="6217920" y="3794760"/>
            <a:ext cx="2240280" cy="54864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Evaluate</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marL="0" indent="0">
              <a:buNone/>
            </a:pPr>
            <a:r>
              <a:rPr lang="en-US" sz="3200" b="1" dirty="0">
                <a:solidFill>
                  <a:srgbClr val="0B2E3F"/>
                </a:solidFill>
                <a:latin typeface="Cambria" pitchFamily="34" charset="0"/>
                <a:ea typeface="Cambria" pitchFamily="34" charset="-122"/>
                <a:cs typeface="Cambria" pitchFamily="34" charset="-120"/>
              </a:rPr>
              <a:t>Step 1: Build the cohort</a:t>
            </a:r>
            <a:endParaRPr lang="en-US" sz="3200" dirty="0"/>
          </a:p>
        </p:txBody>
      </p:sp>
      <p:sp>
        <p:nvSpPr>
          <p:cNvPr id="3" name="Shape 1"/>
          <p:cNvSpPr/>
          <p:nvPr/>
        </p:nvSpPr>
        <p:spPr>
          <a:xfrm>
            <a:off x="8229600" y="365760"/>
            <a:ext cx="502920" cy="502920"/>
          </a:xfrm>
          <a:prstGeom prst="ellipse">
            <a:avLst/>
          </a:prstGeom>
          <a:solidFill>
            <a:srgbClr val="0E7C86"/>
          </a:solidFill>
          <a:ln w="12700">
            <a:solidFill>
              <a:srgbClr val="0E7C86"/>
            </a:solidFill>
            <a:prstDash val="solid"/>
          </a:ln>
        </p:spPr>
        <p:txBody>
          <a:bodyPr/>
          <a:lstStyle/>
          <a:p>
            <a:endParaRPr lang="en-US"/>
          </a:p>
        </p:txBody>
      </p:sp>
      <p:sp>
        <p:nvSpPr>
          <p:cNvPr id="4" name="Text 2"/>
          <p:cNvSpPr txBox="1"/>
          <p:nvPr/>
        </p:nvSpPr>
        <p:spPr>
          <a:xfrm>
            <a:off x="8229600" y="3657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5" name="Text 3"/>
          <p:cNvSpPr txBox="1"/>
          <p:nvPr/>
        </p:nvSpPr>
        <p:spPr>
          <a:xfrm>
            <a:off x="457200" y="1280160"/>
            <a:ext cx="3931920" cy="32004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Keep each patient's first ICU stay only</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Drop rows with missing LOS</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Age = admission year minus birth year</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Cap age at 90 (MIMIC shifts old birthdates)</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Keep adults (18+)</a:t>
            </a:r>
            <a:endParaRPr lang="en-US" sz="1600" dirty="0"/>
          </a:p>
        </p:txBody>
      </p:sp>
      <p:sp>
        <p:nvSpPr>
          <p:cNvPr id="6" name="Shape 4"/>
          <p:cNvSpPr/>
          <p:nvPr/>
        </p:nvSpPr>
        <p:spPr>
          <a:xfrm>
            <a:off x="4663440" y="1280160"/>
            <a:ext cx="4023360" cy="3200400"/>
          </a:xfrm>
          <a:prstGeom prst="roundRect">
            <a:avLst>
              <a:gd name="adj" fmla="val 2286"/>
            </a:avLst>
          </a:prstGeom>
          <a:solidFill>
            <a:srgbClr val="0B2E3F"/>
          </a:solidFill>
          <a:ln w="12700">
            <a:solidFill>
              <a:srgbClr val="0B2E3F"/>
            </a:solidFill>
            <a:prstDash val="solid"/>
          </a:ln>
        </p:spPr>
        <p:txBody>
          <a:bodyPr/>
          <a:lstStyle/>
          <a:p>
            <a:endParaRPr lang="en-US"/>
          </a:p>
        </p:txBody>
      </p:sp>
      <p:sp>
        <p:nvSpPr>
          <p:cNvPr id="7" name="Text 5"/>
          <p:cNvSpPr txBox="1"/>
          <p:nvPr/>
        </p:nvSpPr>
        <p:spPr>
          <a:xfrm>
            <a:off x="4846320" y="1371600"/>
            <a:ext cx="3657600" cy="3017520"/>
          </a:xfrm>
          <a:prstGeom prst="rect">
            <a:avLst/>
          </a:prstGeom>
          <a:noFill/>
          <a:ln/>
        </p:spPr>
        <p:txBody>
          <a:bodyPr wrap="square" lIns="0" tIns="0" rIns="0" bIns="0" rtlCol="0" anchor="t"/>
          <a:lstStyle/>
          <a:p>
            <a:pPr marL="0" indent="0">
              <a:buNone/>
            </a:pPr>
            <a:r>
              <a:rPr lang="en-US" sz="1200" dirty="0">
                <a:solidFill>
                  <a:srgbClr val="D6F1EE"/>
                </a:solidFill>
                <a:latin typeface="Courier New" pitchFamily="34" charset="0"/>
                <a:ea typeface="Courier New" pitchFamily="34" charset="-122"/>
                <a:cs typeface="Courier New" pitchFamily="34" charset="-120"/>
              </a:rPr>
              <a:t>icustays = (icustays</a:t>
            </a:r>
            <a:endParaRPr lang="en-US" sz="1200" dirty="0"/>
          </a:p>
          <a:p>
            <a:pPr marL="0" indent="0">
              <a:buNone/>
            </a:pPr>
            <a:r>
              <a:rPr lang="en-US" sz="1200" dirty="0">
                <a:solidFill>
                  <a:srgbClr val="D6F1EE"/>
                </a:solidFill>
                <a:latin typeface="Courier New" pitchFamily="34" charset="0"/>
                <a:ea typeface="Courier New" pitchFamily="34" charset="-122"/>
                <a:cs typeface="Courier New" pitchFamily="34" charset="-120"/>
              </a:rPr>
              <a:t>  .sort_values(</a:t>
            </a:r>
            <a:endParaRPr lang="en-US" sz="1200" dirty="0"/>
          </a:p>
          <a:p>
            <a:pPr marL="0" indent="0">
              <a:buNone/>
            </a:pPr>
            <a:r>
              <a:rPr lang="en-US" sz="1200" dirty="0">
                <a:solidFill>
                  <a:srgbClr val="D6F1EE"/>
                </a:solidFill>
                <a:latin typeface="Courier New" pitchFamily="34" charset="0"/>
                <a:ea typeface="Courier New" pitchFamily="34" charset="-122"/>
                <a:cs typeface="Courier New" pitchFamily="34" charset="-120"/>
              </a:rPr>
              <a:t>    ["SUBJECT_ID","INTIME"])</a:t>
            </a:r>
            <a:endParaRPr lang="en-US" sz="1200" dirty="0"/>
          </a:p>
          <a:p>
            <a:pPr marL="0" indent="0">
              <a:buNone/>
            </a:pPr>
            <a:r>
              <a:rPr lang="en-US" sz="1200" dirty="0">
                <a:solidFill>
                  <a:srgbClr val="D6F1EE"/>
                </a:solidFill>
                <a:latin typeface="Courier New" pitchFamily="34" charset="0"/>
                <a:ea typeface="Courier New" pitchFamily="34" charset="-122"/>
                <a:cs typeface="Courier New" pitchFamily="34" charset="-120"/>
              </a:rPr>
              <a:t>  .drop_duplicates(</a:t>
            </a:r>
            <a:endParaRPr lang="en-US" sz="1200" dirty="0"/>
          </a:p>
          <a:p>
            <a:pPr marL="0" indent="0">
              <a:buNone/>
            </a:pPr>
            <a:r>
              <a:rPr lang="en-US" sz="1200" dirty="0">
                <a:solidFill>
                  <a:srgbClr val="D6F1EE"/>
                </a:solidFill>
                <a:latin typeface="Courier New" pitchFamily="34" charset="0"/>
                <a:ea typeface="Courier New" pitchFamily="34" charset="-122"/>
                <a:cs typeface="Courier New" pitchFamily="34" charset="-120"/>
              </a:rPr>
              <a:t>    subset="SUBJECT_ID",</a:t>
            </a:r>
            <a:endParaRPr lang="en-US" sz="1200" dirty="0"/>
          </a:p>
          <a:p>
            <a:pPr marL="0" indent="0">
              <a:buNone/>
            </a:pPr>
            <a:r>
              <a:rPr lang="en-US" sz="1200" dirty="0">
                <a:solidFill>
                  <a:srgbClr val="D6F1EE"/>
                </a:solidFill>
                <a:latin typeface="Courier New" pitchFamily="34" charset="0"/>
                <a:ea typeface="Courier New" pitchFamily="34" charset="-122"/>
                <a:cs typeface="Courier New" pitchFamily="34" charset="-120"/>
              </a:rPr>
              <a:t>    keep="first"))</a:t>
            </a:r>
            <a:endParaRPr lang="en-US" sz="1200" dirty="0"/>
          </a:p>
          <a:p>
            <a:pPr marL="0" indent="0">
              <a:buNone/>
            </a:pPr>
            <a:endParaRPr lang="en-US" sz="1200" dirty="0"/>
          </a:p>
          <a:p>
            <a:pPr marL="0" indent="0">
              <a:buNone/>
            </a:pPr>
            <a:r>
              <a:rPr lang="en-US" sz="1200" dirty="0">
                <a:solidFill>
                  <a:srgbClr val="D6F1EE"/>
                </a:solidFill>
                <a:latin typeface="Courier New" pitchFamily="34" charset="0"/>
                <a:ea typeface="Courier New" pitchFamily="34" charset="-122"/>
                <a:cs typeface="Courier New" pitchFamily="34" charset="-120"/>
              </a:rPr>
              <a:t>cohort["AGE"] = cohort["AGE"].clip(upper=90)</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marL="0" indent="0">
              <a:buNone/>
            </a:pPr>
            <a:r>
              <a:rPr lang="en-US" sz="3200" b="1" dirty="0">
                <a:solidFill>
                  <a:srgbClr val="0B2E3F"/>
                </a:solidFill>
                <a:latin typeface="Cambria" pitchFamily="34" charset="0"/>
                <a:ea typeface="Cambria" pitchFamily="34" charset="-122"/>
                <a:cs typeface="Cambria" pitchFamily="34" charset="-120"/>
              </a:rPr>
              <a:t>Step 2: Create the label</a:t>
            </a:r>
            <a:endParaRPr lang="en-US" sz="3200" dirty="0"/>
          </a:p>
        </p:txBody>
      </p:sp>
      <p:sp>
        <p:nvSpPr>
          <p:cNvPr id="3" name="Shape 1"/>
          <p:cNvSpPr/>
          <p:nvPr/>
        </p:nvSpPr>
        <p:spPr>
          <a:xfrm>
            <a:off x="8229600" y="365760"/>
            <a:ext cx="502920" cy="502920"/>
          </a:xfrm>
          <a:prstGeom prst="ellipse">
            <a:avLst/>
          </a:prstGeom>
          <a:solidFill>
            <a:srgbClr val="0E7C86"/>
          </a:solidFill>
          <a:ln w="12700">
            <a:solidFill>
              <a:srgbClr val="0E7C86"/>
            </a:solidFill>
            <a:prstDash val="solid"/>
          </a:ln>
        </p:spPr>
        <p:txBody>
          <a:bodyPr/>
          <a:lstStyle/>
          <a:p>
            <a:endParaRPr lang="en-US"/>
          </a:p>
        </p:txBody>
      </p:sp>
      <p:sp>
        <p:nvSpPr>
          <p:cNvPr id="4" name="Text 2"/>
          <p:cNvSpPr txBox="1"/>
          <p:nvPr/>
        </p:nvSpPr>
        <p:spPr>
          <a:xfrm>
            <a:off x="8229600" y="3657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5" name="Shape 3"/>
          <p:cNvSpPr/>
          <p:nvPr/>
        </p:nvSpPr>
        <p:spPr>
          <a:xfrm>
            <a:off x="457200" y="1280160"/>
            <a:ext cx="4206240" cy="2194560"/>
          </a:xfrm>
          <a:prstGeom prst="roundRect">
            <a:avLst>
              <a:gd name="adj" fmla="val 3333"/>
            </a:avLst>
          </a:prstGeom>
          <a:solidFill>
            <a:srgbClr val="0B2E3F"/>
          </a:solidFill>
          <a:ln w="12700">
            <a:solidFill>
              <a:srgbClr val="0B2E3F"/>
            </a:solidFill>
            <a:prstDash val="solid"/>
          </a:ln>
        </p:spPr>
        <p:txBody>
          <a:bodyPr/>
          <a:lstStyle/>
          <a:p>
            <a:endParaRPr lang="en-US"/>
          </a:p>
        </p:txBody>
      </p:sp>
      <p:sp>
        <p:nvSpPr>
          <p:cNvPr id="6" name="Text 4"/>
          <p:cNvSpPr txBox="1"/>
          <p:nvPr/>
        </p:nvSpPr>
        <p:spPr>
          <a:xfrm>
            <a:off x="640080" y="1371600"/>
            <a:ext cx="3840480" cy="2011680"/>
          </a:xfrm>
          <a:prstGeom prst="rect">
            <a:avLst/>
          </a:prstGeom>
          <a:noFill/>
          <a:ln/>
        </p:spPr>
        <p:txBody>
          <a:bodyPr wrap="square" lIns="0" tIns="0" rIns="0" bIns="0" rtlCol="0" anchor="t"/>
          <a:lstStyle/>
          <a:p>
            <a:pPr marL="0" indent="0">
              <a:buNone/>
            </a:pPr>
            <a:r>
              <a:rPr lang="en-US" sz="1200" dirty="0">
                <a:solidFill>
                  <a:srgbClr val="D6F1EE"/>
                </a:solidFill>
                <a:latin typeface="Courier New" pitchFamily="34" charset="0"/>
                <a:ea typeface="Courier New" pitchFamily="34" charset="-122"/>
                <a:cs typeface="Courier New" pitchFamily="34" charset="-120"/>
              </a:rPr>
              <a:t>cohort["PROLONGED"] = (</a:t>
            </a:r>
            <a:endParaRPr lang="en-US" sz="1200" dirty="0"/>
          </a:p>
          <a:p>
            <a:pPr marL="0" indent="0">
              <a:buNone/>
            </a:pPr>
            <a:r>
              <a:rPr lang="en-US" sz="1200" dirty="0">
                <a:solidFill>
                  <a:srgbClr val="D6F1EE"/>
                </a:solidFill>
                <a:latin typeface="Courier New" pitchFamily="34" charset="0"/>
                <a:ea typeface="Courier New" pitchFamily="34" charset="-122"/>
                <a:cs typeface="Courier New" pitchFamily="34" charset="-120"/>
              </a:rPr>
              <a:t>    cohort["LOS"] &gt;= 3</a:t>
            </a:r>
            <a:endParaRPr lang="en-US" sz="1200" dirty="0"/>
          </a:p>
          <a:p>
            <a:pPr marL="0" indent="0">
              <a:buNone/>
            </a:pPr>
            <a:r>
              <a:rPr lang="en-US" sz="1200" dirty="0">
                <a:solidFill>
                  <a:srgbClr val="D6F1EE"/>
                </a:solidFill>
                <a:latin typeface="Courier New" pitchFamily="34" charset="0"/>
                <a:ea typeface="Courier New" pitchFamily="34" charset="-122"/>
                <a:cs typeface="Courier New" pitchFamily="34" charset="-120"/>
              </a:rPr>
              <a:t>).astype(int)</a:t>
            </a:r>
            <a:endParaRPr lang="en-US" sz="1200" dirty="0"/>
          </a:p>
          <a:p>
            <a:pPr marL="0" indent="0">
              <a:buNone/>
            </a:pPr>
            <a:endParaRPr lang="en-US" sz="1200" dirty="0"/>
          </a:p>
          <a:p>
            <a:pPr marL="0" indent="0">
              <a:buNone/>
            </a:pPr>
            <a:r>
              <a:rPr lang="en-US" sz="1200" dirty="0">
                <a:solidFill>
                  <a:srgbClr val="D6F1EE"/>
                </a:solidFill>
                <a:latin typeface="Courier New" pitchFamily="34" charset="0"/>
                <a:ea typeface="Courier New" pitchFamily="34" charset="-122"/>
                <a:cs typeface="Courier New" pitchFamily="34" charset="-120"/>
              </a:rPr>
              <a:t>cohort["PROLONGED"]</a:t>
            </a:r>
            <a:endParaRPr lang="en-US" sz="1200" dirty="0"/>
          </a:p>
          <a:p>
            <a:pPr marL="0" indent="0">
              <a:buNone/>
            </a:pPr>
            <a:r>
              <a:rPr lang="en-US" sz="1200" dirty="0">
                <a:solidFill>
                  <a:srgbClr val="D6F1EE"/>
                </a:solidFill>
                <a:latin typeface="Courier New" pitchFamily="34" charset="0"/>
                <a:ea typeface="Courier New" pitchFamily="34" charset="-122"/>
                <a:cs typeface="Courier New" pitchFamily="34" charset="-120"/>
              </a:rPr>
              <a:t>  .value_counts(normalize=True)</a:t>
            </a:r>
            <a:endParaRPr lang="en-US" sz="1200" dirty="0"/>
          </a:p>
        </p:txBody>
      </p:sp>
      <p:sp>
        <p:nvSpPr>
          <p:cNvPr id="7" name="Text 5"/>
          <p:cNvSpPr txBox="1"/>
          <p:nvPr/>
        </p:nvSpPr>
        <p:spPr>
          <a:xfrm>
            <a:off x="4937760" y="1280160"/>
            <a:ext cx="3749040" cy="23774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LOS is measured in days</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1 = stay of 3 days or more</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Check the class balance first</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If one class is rare, accuracy alone can mislead</a:t>
            </a:r>
            <a:endParaRPr lang="en-US" sz="1600" dirty="0"/>
          </a:p>
        </p:txBody>
      </p:sp>
      <p:sp>
        <p:nvSpPr>
          <p:cNvPr id="8" name="Shape 6"/>
          <p:cNvSpPr/>
          <p:nvPr/>
        </p:nvSpPr>
        <p:spPr>
          <a:xfrm>
            <a:off x="457200" y="3840480"/>
            <a:ext cx="8229600" cy="822960"/>
          </a:xfrm>
          <a:prstGeom prst="roundRect">
            <a:avLst>
              <a:gd name="adj" fmla="val 8889"/>
            </a:avLst>
          </a:prstGeom>
          <a:solidFill>
            <a:srgbClr val="E6F4F1"/>
          </a:solidFill>
          <a:ln w="12700">
            <a:solidFill>
              <a:srgbClr val="E6F4F1"/>
            </a:solidFill>
            <a:prstDash val="solid"/>
          </a:ln>
        </p:spPr>
        <p:txBody>
          <a:bodyPr/>
          <a:lstStyle/>
          <a:p>
            <a:endParaRPr lang="en-US"/>
          </a:p>
        </p:txBody>
      </p:sp>
      <p:sp>
        <p:nvSpPr>
          <p:cNvPr id="9" name="Text 7"/>
          <p:cNvSpPr txBox="1"/>
          <p:nvPr/>
        </p:nvSpPr>
        <p:spPr>
          <a:xfrm>
            <a:off x="640080" y="3840480"/>
            <a:ext cx="7863840" cy="822960"/>
          </a:xfrm>
          <a:prstGeom prst="rect">
            <a:avLst/>
          </a:prstGeom>
          <a:noFill/>
          <a:ln/>
        </p:spPr>
        <p:txBody>
          <a:bodyPr wrap="square" lIns="0" tIns="0" rIns="0" bIns="0" rtlCol="0" anchor="ctr"/>
          <a:lstStyle/>
          <a:p>
            <a:pPr marL="0" indent="0">
              <a:buNone/>
            </a:pPr>
            <a:r>
              <a:rPr lang="en-US" sz="1600" i="1" dirty="0">
                <a:solidFill>
                  <a:srgbClr val="0B2E3F"/>
                </a:solidFill>
                <a:latin typeface="Calibri" pitchFamily="34" charset="0"/>
                <a:ea typeface="Calibri" pitchFamily="34" charset="-122"/>
                <a:cs typeface="Calibri" pitchFamily="34" charset="-120"/>
              </a:rPr>
              <a:t>Try it: change 3 to 7 days and see how the class balance changes.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marL="0" indent="0">
              <a:buNone/>
            </a:pPr>
            <a:r>
              <a:rPr lang="en-US" sz="3200" b="1" dirty="0">
                <a:solidFill>
                  <a:srgbClr val="0B2E3F"/>
                </a:solidFill>
                <a:latin typeface="Cambria" pitchFamily="34" charset="0"/>
                <a:ea typeface="Cambria" pitchFamily="34" charset="-122"/>
                <a:cs typeface="Cambria" pitchFamily="34" charset="-120"/>
              </a:rPr>
              <a:t>Step 3: First-24-hour lab features</a:t>
            </a:r>
            <a:endParaRPr lang="en-US" sz="3200" dirty="0"/>
          </a:p>
        </p:txBody>
      </p:sp>
      <p:sp>
        <p:nvSpPr>
          <p:cNvPr id="3" name="Shape 1"/>
          <p:cNvSpPr/>
          <p:nvPr/>
        </p:nvSpPr>
        <p:spPr>
          <a:xfrm>
            <a:off x="8229600" y="365760"/>
            <a:ext cx="502920" cy="502920"/>
          </a:xfrm>
          <a:prstGeom prst="ellipse">
            <a:avLst/>
          </a:prstGeom>
          <a:solidFill>
            <a:srgbClr val="0E7C86"/>
          </a:solidFill>
          <a:ln w="12700">
            <a:solidFill>
              <a:srgbClr val="0E7C86"/>
            </a:solidFill>
            <a:prstDash val="solid"/>
          </a:ln>
        </p:spPr>
        <p:txBody>
          <a:bodyPr/>
          <a:lstStyle/>
          <a:p>
            <a:endParaRPr lang="en-US"/>
          </a:p>
        </p:txBody>
      </p:sp>
      <p:sp>
        <p:nvSpPr>
          <p:cNvPr id="4" name="Text 2"/>
          <p:cNvSpPr txBox="1"/>
          <p:nvPr/>
        </p:nvSpPr>
        <p:spPr>
          <a:xfrm>
            <a:off x="8229600" y="3657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5" name="Shape 3"/>
          <p:cNvSpPr/>
          <p:nvPr/>
        </p:nvSpPr>
        <p:spPr>
          <a:xfrm>
            <a:off x="457200" y="1737360"/>
            <a:ext cx="8229600" cy="411480"/>
          </a:xfrm>
          <a:prstGeom prst="rect">
            <a:avLst/>
          </a:prstGeom>
          <a:solidFill>
            <a:srgbClr val="D9DEE2"/>
          </a:solidFill>
          <a:ln w="12700">
            <a:solidFill>
              <a:srgbClr val="D9DEE2"/>
            </a:solidFill>
            <a:prstDash val="solid"/>
          </a:ln>
        </p:spPr>
        <p:txBody>
          <a:bodyPr/>
          <a:lstStyle/>
          <a:p>
            <a:endParaRPr lang="en-US"/>
          </a:p>
        </p:txBody>
      </p:sp>
      <p:sp>
        <p:nvSpPr>
          <p:cNvPr id="6" name="Shape 4"/>
          <p:cNvSpPr/>
          <p:nvPr/>
        </p:nvSpPr>
        <p:spPr>
          <a:xfrm>
            <a:off x="1828800" y="1737360"/>
            <a:ext cx="2743200" cy="411480"/>
          </a:xfrm>
          <a:prstGeom prst="rect">
            <a:avLst/>
          </a:prstGeom>
          <a:solidFill>
            <a:srgbClr val="0E7C86"/>
          </a:solidFill>
          <a:ln w="12700">
            <a:solidFill>
              <a:srgbClr val="0E7C86"/>
            </a:solidFill>
            <a:prstDash val="solid"/>
          </a:ln>
        </p:spPr>
        <p:txBody>
          <a:bodyPr/>
          <a:lstStyle/>
          <a:p>
            <a:endParaRPr lang="en-US"/>
          </a:p>
        </p:txBody>
      </p:sp>
      <p:sp>
        <p:nvSpPr>
          <p:cNvPr id="7" name="Text 5"/>
          <p:cNvSpPr txBox="1"/>
          <p:nvPr/>
        </p:nvSpPr>
        <p:spPr>
          <a:xfrm>
            <a:off x="1828800" y="1737360"/>
            <a:ext cx="274320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labs we use (0 to 24 h)</a:t>
            </a:r>
            <a:endParaRPr lang="en-US" sz="1400" dirty="0"/>
          </a:p>
        </p:txBody>
      </p:sp>
      <p:sp>
        <p:nvSpPr>
          <p:cNvPr id="8" name="Text 6"/>
          <p:cNvSpPr txBox="1"/>
          <p:nvPr/>
        </p:nvSpPr>
        <p:spPr>
          <a:xfrm>
            <a:off x="1097280" y="1280160"/>
            <a:ext cx="1463040" cy="365760"/>
          </a:xfrm>
          <a:prstGeom prst="rect">
            <a:avLst/>
          </a:prstGeom>
          <a:noFill/>
          <a:ln/>
        </p:spPr>
        <p:txBody>
          <a:bodyPr wrap="square" lIns="0" tIns="0" rIns="0" bIns="0" rtlCol="0" anchor="ctr"/>
          <a:lstStyle/>
          <a:p>
            <a:pPr marL="0" indent="0" algn="ctr">
              <a:buNone/>
            </a:pPr>
            <a:r>
              <a:rPr lang="en-US" sz="1400" dirty="0">
                <a:solidFill>
                  <a:srgbClr val="1F2937"/>
                </a:solidFill>
                <a:latin typeface="Calibri" pitchFamily="34" charset="0"/>
                <a:ea typeface="Calibri" pitchFamily="34" charset="-122"/>
                <a:cs typeface="Calibri" pitchFamily="34" charset="-120"/>
              </a:rPr>
              <a:t>ICU admission</a:t>
            </a:r>
            <a:endParaRPr lang="en-US" sz="1400" dirty="0"/>
          </a:p>
        </p:txBody>
      </p:sp>
      <p:sp>
        <p:nvSpPr>
          <p:cNvPr id="9" name="Text 7"/>
          <p:cNvSpPr txBox="1"/>
          <p:nvPr/>
        </p:nvSpPr>
        <p:spPr>
          <a:xfrm>
            <a:off x="4754880" y="1280160"/>
            <a:ext cx="3840480" cy="365760"/>
          </a:xfrm>
          <a:prstGeom prst="rect">
            <a:avLst/>
          </a:prstGeom>
          <a:noFill/>
          <a:ln/>
        </p:spPr>
        <p:txBody>
          <a:bodyPr wrap="square" lIns="0" tIns="0" rIns="0" bIns="0" rtlCol="0" anchor="ctr"/>
          <a:lstStyle/>
          <a:p>
            <a:pPr marL="0" indent="0">
              <a:buNone/>
            </a:pPr>
            <a:r>
              <a:rPr lang="en-US" sz="1400" b="1" dirty="0">
                <a:solidFill>
                  <a:srgbClr val="E4572E"/>
                </a:solidFill>
                <a:latin typeface="Calibri" pitchFamily="34" charset="0"/>
                <a:ea typeface="Calibri" pitchFamily="34" charset="-122"/>
                <a:cs typeface="Calibri" pitchFamily="34" charset="-120"/>
              </a:rPr>
              <a:t>later: ignored (would leak the future)</a:t>
            </a:r>
            <a:endParaRPr lang="en-US" sz="1400" dirty="0"/>
          </a:p>
        </p:txBody>
      </p:sp>
      <p:sp>
        <p:nvSpPr>
          <p:cNvPr id="10" name="Text 8"/>
          <p:cNvSpPr txBox="1"/>
          <p:nvPr/>
        </p:nvSpPr>
        <p:spPr>
          <a:xfrm>
            <a:off x="457200" y="2468880"/>
            <a:ext cx="4114800" cy="22860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10 labs: creatinine, BUN, sodium, potassium, bicarbonate, glucose, hemoglobin, WBC, platelets, lactate</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Read LABEVENTS in chunks of 1 million rows</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Keep the max value per lab per patient</a:t>
            </a:r>
            <a:endParaRPr lang="en-US" sz="1600" dirty="0"/>
          </a:p>
        </p:txBody>
      </p:sp>
      <p:sp>
        <p:nvSpPr>
          <p:cNvPr id="11" name="Shape 9"/>
          <p:cNvSpPr/>
          <p:nvPr/>
        </p:nvSpPr>
        <p:spPr>
          <a:xfrm>
            <a:off x="4754880" y="2377440"/>
            <a:ext cx="3931920" cy="2377440"/>
          </a:xfrm>
          <a:prstGeom prst="roundRect">
            <a:avLst>
              <a:gd name="adj" fmla="val 3077"/>
            </a:avLst>
          </a:prstGeom>
          <a:solidFill>
            <a:srgbClr val="0B2E3F"/>
          </a:solidFill>
          <a:ln w="12700">
            <a:solidFill>
              <a:srgbClr val="0B2E3F"/>
            </a:solidFill>
            <a:prstDash val="solid"/>
          </a:ln>
        </p:spPr>
        <p:txBody>
          <a:bodyPr/>
          <a:lstStyle/>
          <a:p>
            <a:endParaRPr lang="en-US"/>
          </a:p>
        </p:txBody>
      </p:sp>
      <p:sp>
        <p:nvSpPr>
          <p:cNvPr id="12" name="Text 10"/>
          <p:cNvSpPr txBox="1"/>
          <p:nvPr/>
        </p:nvSpPr>
        <p:spPr>
          <a:xfrm>
            <a:off x="4937760" y="2468880"/>
            <a:ext cx="3566160" cy="2194560"/>
          </a:xfrm>
          <a:prstGeom prst="rect">
            <a:avLst/>
          </a:prstGeom>
          <a:noFill/>
          <a:ln/>
        </p:spPr>
        <p:txBody>
          <a:bodyPr wrap="square" lIns="0" tIns="0" rIns="0" bIns="0" rtlCol="0" anchor="t"/>
          <a:lstStyle/>
          <a:p>
            <a:pPr marL="0" indent="0">
              <a:buNone/>
            </a:pPr>
            <a:r>
              <a:rPr lang="en-US" sz="1200" dirty="0">
                <a:solidFill>
                  <a:srgbClr val="D6F1EE"/>
                </a:solidFill>
                <a:latin typeface="Courier New" pitchFamily="34" charset="0"/>
                <a:ea typeface="Courier New" pitchFamily="34" charset="-122"/>
                <a:cs typeface="Courier New" pitchFamily="34" charset="-120"/>
              </a:rPr>
              <a:t>hrs = (labs["CHARTTIME"]</a:t>
            </a:r>
            <a:endParaRPr lang="en-US" sz="1200" dirty="0"/>
          </a:p>
          <a:p>
            <a:pPr marL="0" indent="0">
              <a:buNone/>
            </a:pPr>
            <a:r>
              <a:rPr lang="en-US" sz="1200" dirty="0">
                <a:solidFill>
                  <a:srgbClr val="D6F1EE"/>
                </a:solidFill>
                <a:latin typeface="Courier New" pitchFamily="34" charset="0"/>
                <a:ea typeface="Courier New" pitchFamily="34" charset="-122"/>
                <a:cs typeface="Courier New" pitchFamily="34" charset="-120"/>
              </a:rPr>
              <a:t>  - labs["INTIME"]</a:t>
            </a:r>
            <a:endParaRPr lang="en-US" sz="1200" dirty="0"/>
          </a:p>
          <a:p>
            <a:pPr marL="0" indent="0">
              <a:buNone/>
            </a:pPr>
            <a:r>
              <a:rPr lang="en-US" sz="1200" dirty="0">
                <a:solidFill>
                  <a:srgbClr val="D6F1EE"/>
                </a:solidFill>
                <a:latin typeface="Courier New" pitchFamily="34" charset="0"/>
                <a:ea typeface="Courier New" pitchFamily="34" charset="-122"/>
                <a:cs typeface="Courier New" pitchFamily="34" charset="-120"/>
              </a:rPr>
              <a:t>  ).dt.total_seconds()/3600</a:t>
            </a:r>
            <a:endParaRPr lang="en-US" sz="1200" dirty="0"/>
          </a:p>
          <a:p>
            <a:pPr marL="0" indent="0">
              <a:buNone/>
            </a:pPr>
            <a:r>
              <a:rPr lang="en-US" sz="1200" dirty="0">
                <a:solidFill>
                  <a:srgbClr val="D6F1EE"/>
                </a:solidFill>
                <a:latin typeface="Courier New" pitchFamily="34" charset="0"/>
                <a:ea typeface="Courier New" pitchFamily="34" charset="-122"/>
                <a:cs typeface="Courier New" pitchFamily="34" charset="-120"/>
              </a:rPr>
              <a:t>labs = labs[(hrs&gt;=0)</a:t>
            </a:r>
            <a:endParaRPr lang="en-US" sz="1200" dirty="0"/>
          </a:p>
          <a:p>
            <a:pPr marL="0" indent="0">
              <a:buNone/>
            </a:pPr>
            <a:r>
              <a:rPr lang="en-US" sz="1200" dirty="0">
                <a:solidFill>
                  <a:srgbClr val="D6F1EE"/>
                </a:solidFill>
                <a:latin typeface="Courier New" pitchFamily="34" charset="0"/>
                <a:ea typeface="Courier New" pitchFamily="34" charset="-122"/>
                <a:cs typeface="Courier New" pitchFamily="34" charset="-120"/>
              </a:rPr>
              <a:t>  &amp; (hrs&lt;=24)]</a:t>
            </a:r>
            <a:endParaRPr lang="en-US" sz="1200" dirty="0"/>
          </a:p>
          <a:p>
            <a:pPr marL="0" indent="0">
              <a:buNone/>
            </a:pPr>
            <a:endParaRPr lang="en-US" sz="1200" dirty="0"/>
          </a:p>
          <a:p>
            <a:pPr marL="0" indent="0">
              <a:buNone/>
            </a:pPr>
            <a:r>
              <a:rPr lang="en-US" sz="1200" dirty="0">
                <a:solidFill>
                  <a:srgbClr val="D6F1EE"/>
                </a:solidFill>
                <a:latin typeface="Courier New" pitchFamily="34" charset="0"/>
                <a:ea typeface="Courier New" pitchFamily="34" charset="-122"/>
                <a:cs typeface="Courier New" pitchFamily="34" charset="-120"/>
              </a:rPr>
              <a:t>.groupby(["HADM_ID","LAB"])</a:t>
            </a:r>
            <a:endParaRPr lang="en-US" sz="1200" dirty="0"/>
          </a:p>
          <a:p>
            <a:pPr marL="0" indent="0">
              <a:buNone/>
            </a:pPr>
            <a:r>
              <a:rPr lang="en-US" sz="1200" dirty="0">
                <a:solidFill>
                  <a:srgbClr val="D6F1EE"/>
                </a:solidFill>
                <a:latin typeface="Courier New" pitchFamily="34" charset="0"/>
                <a:ea typeface="Courier New" pitchFamily="34" charset="-122"/>
                <a:cs typeface="Courier New" pitchFamily="34" charset="-120"/>
              </a:rPr>
              <a:t>  ["VALUENUM"].max()</a:t>
            </a:r>
            <a:endParaRPr lang="en-US" sz="1200" dirty="0"/>
          </a:p>
          <a:p>
            <a:pPr marL="0" indent="0">
              <a:buNone/>
            </a:pPr>
            <a:r>
              <a:rPr lang="en-US" sz="1200" dirty="0">
                <a:solidFill>
                  <a:srgbClr val="D6F1EE"/>
                </a:solidFill>
                <a:latin typeface="Courier New" pitchFamily="34" charset="0"/>
                <a:ea typeface="Courier New" pitchFamily="34" charset="-122"/>
                <a:cs typeface="Courier New" pitchFamily="34" charset="-120"/>
              </a:rPr>
              <a:t>  .unstack("LAB")</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marL="0" indent="0">
              <a:buNone/>
            </a:pPr>
            <a:r>
              <a:rPr lang="en-US" sz="3200" b="1" dirty="0">
                <a:solidFill>
                  <a:srgbClr val="0B2E3F"/>
                </a:solidFill>
                <a:latin typeface="Cambria" pitchFamily="34" charset="0"/>
                <a:ea typeface="Cambria" pitchFamily="34" charset="-122"/>
                <a:cs typeface="Cambria" pitchFamily="34" charset="-120"/>
              </a:rPr>
              <a:t>Step 4: Modeling table and EDA</a:t>
            </a:r>
            <a:endParaRPr lang="en-US" sz="3200" dirty="0"/>
          </a:p>
        </p:txBody>
      </p:sp>
      <p:sp>
        <p:nvSpPr>
          <p:cNvPr id="3" name="Shape 1"/>
          <p:cNvSpPr/>
          <p:nvPr/>
        </p:nvSpPr>
        <p:spPr>
          <a:xfrm>
            <a:off x="8229600" y="365760"/>
            <a:ext cx="502920" cy="502920"/>
          </a:xfrm>
          <a:prstGeom prst="ellipse">
            <a:avLst/>
          </a:prstGeom>
          <a:solidFill>
            <a:srgbClr val="0E7C86"/>
          </a:solidFill>
          <a:ln w="12700">
            <a:solidFill>
              <a:srgbClr val="0E7C86"/>
            </a:solidFill>
            <a:prstDash val="solid"/>
          </a:ln>
        </p:spPr>
        <p:txBody>
          <a:bodyPr/>
          <a:lstStyle/>
          <a:p>
            <a:endParaRPr lang="en-US"/>
          </a:p>
        </p:txBody>
      </p:sp>
      <p:sp>
        <p:nvSpPr>
          <p:cNvPr id="4" name="Text 2"/>
          <p:cNvSpPr txBox="1"/>
          <p:nvPr/>
        </p:nvSpPr>
        <p:spPr>
          <a:xfrm>
            <a:off x="8229600" y="3657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5" name="Shape 3"/>
          <p:cNvSpPr/>
          <p:nvPr/>
        </p:nvSpPr>
        <p:spPr>
          <a:xfrm>
            <a:off x="457200" y="1280160"/>
            <a:ext cx="3977640" cy="1645920"/>
          </a:xfrm>
          <a:prstGeom prst="roundRect">
            <a:avLst>
              <a:gd name="adj" fmla="val 4444"/>
            </a:avLst>
          </a:prstGeom>
          <a:solidFill>
            <a:srgbClr val="E6F4F1"/>
          </a:solidFill>
          <a:ln w="12700">
            <a:solidFill>
              <a:srgbClr val="E6F4F1"/>
            </a:solidFill>
            <a:prstDash val="solid"/>
          </a:ln>
        </p:spPr>
        <p:txBody>
          <a:bodyPr/>
          <a:lstStyle/>
          <a:p>
            <a:endParaRPr lang="en-US"/>
          </a:p>
        </p:txBody>
      </p:sp>
      <p:sp>
        <p:nvSpPr>
          <p:cNvPr id="6" name="Text 4"/>
          <p:cNvSpPr txBox="1"/>
          <p:nvPr/>
        </p:nvSpPr>
        <p:spPr>
          <a:xfrm>
            <a:off x="640080" y="1389888"/>
            <a:ext cx="3611880" cy="365760"/>
          </a:xfrm>
          <a:prstGeom prst="rect">
            <a:avLst/>
          </a:prstGeom>
          <a:noFill/>
          <a:ln/>
        </p:spPr>
        <p:txBody>
          <a:bodyPr wrap="square" lIns="0" tIns="0" rIns="0" bIns="0" rtlCol="0" anchor="ctr"/>
          <a:lstStyle/>
          <a:p>
            <a:pPr marL="0" indent="0">
              <a:buNone/>
            </a:pPr>
            <a:r>
              <a:rPr lang="en-US" sz="1600" b="1" dirty="0">
                <a:solidFill>
                  <a:srgbClr val="0B2E3F"/>
                </a:solidFill>
                <a:latin typeface="Cambria" pitchFamily="34" charset="0"/>
                <a:ea typeface="Cambria" pitchFamily="34" charset="-122"/>
                <a:cs typeface="Cambria" pitchFamily="34" charset="-120"/>
              </a:rPr>
              <a:t>Features (X)</a:t>
            </a:r>
            <a:endParaRPr lang="en-US" sz="1600" dirty="0"/>
          </a:p>
        </p:txBody>
      </p:sp>
      <p:sp>
        <p:nvSpPr>
          <p:cNvPr id="7" name="Text 5"/>
          <p:cNvSpPr txBox="1"/>
          <p:nvPr/>
        </p:nvSpPr>
        <p:spPr>
          <a:xfrm>
            <a:off x="640080" y="1783080"/>
            <a:ext cx="3611880" cy="1051560"/>
          </a:xfrm>
          <a:prstGeom prst="rect">
            <a:avLst/>
          </a:prstGeom>
          <a:noFill/>
          <a:ln/>
        </p:spPr>
        <p:txBody>
          <a:bodyPr wrap="square" lIns="0" tIns="0" rIns="0" bIns="0" rtlCol="0" anchor="t"/>
          <a:lstStyle/>
          <a:p>
            <a:pPr marL="0" indent="0">
              <a:buNone/>
            </a:pPr>
            <a:r>
              <a:rPr lang="en-US" sz="1400" dirty="0">
                <a:solidFill>
                  <a:srgbClr val="1F2937"/>
                </a:solidFill>
                <a:latin typeface="Calibri" pitchFamily="34" charset="0"/>
                <a:ea typeface="Calibri" pitchFamily="34" charset="-122"/>
                <a:cs typeface="Calibri" pitchFamily="34" charset="-120"/>
              </a:rPr>
              <a:t>Age, male (0/1), admission type (one-hot), 10 labs. LOS is excluded because it defines the label.</a:t>
            </a:r>
            <a:endParaRPr lang="en-US" sz="1400" dirty="0"/>
          </a:p>
        </p:txBody>
      </p:sp>
      <p:sp>
        <p:nvSpPr>
          <p:cNvPr id="8" name="Shape 6"/>
          <p:cNvSpPr/>
          <p:nvPr/>
        </p:nvSpPr>
        <p:spPr>
          <a:xfrm>
            <a:off x="4709160" y="1280160"/>
            <a:ext cx="3977640" cy="1645920"/>
          </a:xfrm>
          <a:prstGeom prst="roundRect">
            <a:avLst>
              <a:gd name="adj" fmla="val 4444"/>
            </a:avLst>
          </a:prstGeom>
          <a:solidFill>
            <a:srgbClr val="E6F4F1"/>
          </a:solidFill>
          <a:ln w="12700">
            <a:solidFill>
              <a:srgbClr val="E6F4F1"/>
            </a:solidFill>
            <a:prstDash val="solid"/>
          </a:ln>
        </p:spPr>
        <p:txBody>
          <a:bodyPr/>
          <a:lstStyle/>
          <a:p>
            <a:endParaRPr lang="en-US"/>
          </a:p>
        </p:txBody>
      </p:sp>
      <p:sp>
        <p:nvSpPr>
          <p:cNvPr id="9" name="Text 7"/>
          <p:cNvSpPr txBox="1"/>
          <p:nvPr/>
        </p:nvSpPr>
        <p:spPr>
          <a:xfrm>
            <a:off x="4892040" y="1389888"/>
            <a:ext cx="3611880" cy="365760"/>
          </a:xfrm>
          <a:prstGeom prst="rect">
            <a:avLst/>
          </a:prstGeom>
          <a:noFill/>
          <a:ln/>
        </p:spPr>
        <p:txBody>
          <a:bodyPr wrap="square" lIns="0" tIns="0" rIns="0" bIns="0" rtlCol="0" anchor="ctr"/>
          <a:lstStyle/>
          <a:p>
            <a:pPr marL="0" indent="0">
              <a:buNone/>
            </a:pPr>
            <a:r>
              <a:rPr lang="en-US" sz="1600" b="1" dirty="0">
                <a:solidFill>
                  <a:srgbClr val="0B2E3F"/>
                </a:solidFill>
                <a:latin typeface="Cambria" pitchFamily="34" charset="0"/>
                <a:ea typeface="Cambria" pitchFamily="34" charset="-122"/>
                <a:cs typeface="Cambria" pitchFamily="34" charset="-120"/>
              </a:rPr>
              <a:t>Label (y)</a:t>
            </a:r>
            <a:endParaRPr lang="en-US" sz="1600" dirty="0"/>
          </a:p>
        </p:txBody>
      </p:sp>
      <p:sp>
        <p:nvSpPr>
          <p:cNvPr id="10" name="Text 8"/>
          <p:cNvSpPr txBox="1"/>
          <p:nvPr/>
        </p:nvSpPr>
        <p:spPr>
          <a:xfrm>
            <a:off x="4892040" y="1783080"/>
            <a:ext cx="3611880" cy="1051560"/>
          </a:xfrm>
          <a:prstGeom prst="rect">
            <a:avLst/>
          </a:prstGeom>
          <a:noFill/>
          <a:ln/>
        </p:spPr>
        <p:txBody>
          <a:bodyPr wrap="square" lIns="0" tIns="0" rIns="0" bIns="0" rtlCol="0" anchor="t"/>
          <a:lstStyle/>
          <a:p>
            <a:pPr marL="0" indent="0">
              <a:buNone/>
            </a:pPr>
            <a:r>
              <a:rPr lang="en-US" sz="1400" dirty="0">
                <a:solidFill>
                  <a:srgbClr val="1F2937"/>
                </a:solidFill>
                <a:latin typeface="Calibri" pitchFamily="34" charset="0"/>
                <a:ea typeface="Calibri" pitchFamily="34" charset="-122"/>
                <a:cs typeface="Calibri" pitchFamily="34" charset="-120"/>
              </a:rPr>
              <a:t>PROLONGED, 0 or 1.</a:t>
            </a:r>
            <a:endParaRPr lang="en-US" sz="1400" dirty="0"/>
          </a:p>
        </p:txBody>
      </p:sp>
      <p:sp>
        <p:nvSpPr>
          <p:cNvPr id="11" name="Shape 9"/>
          <p:cNvSpPr/>
          <p:nvPr/>
        </p:nvSpPr>
        <p:spPr>
          <a:xfrm>
            <a:off x="457200" y="3108960"/>
            <a:ext cx="3977640" cy="1463040"/>
          </a:xfrm>
          <a:prstGeom prst="roundRect">
            <a:avLst>
              <a:gd name="adj" fmla="val 5000"/>
            </a:avLst>
          </a:prstGeom>
          <a:solidFill>
            <a:srgbClr val="FDEBE5"/>
          </a:solidFill>
          <a:ln w="12700">
            <a:solidFill>
              <a:srgbClr val="FDEBE5"/>
            </a:solidFill>
            <a:prstDash val="solid"/>
          </a:ln>
        </p:spPr>
        <p:txBody>
          <a:bodyPr/>
          <a:lstStyle/>
          <a:p>
            <a:endParaRPr lang="en-US"/>
          </a:p>
        </p:txBody>
      </p:sp>
      <p:sp>
        <p:nvSpPr>
          <p:cNvPr id="12" name="Text 10"/>
          <p:cNvSpPr txBox="1"/>
          <p:nvPr/>
        </p:nvSpPr>
        <p:spPr>
          <a:xfrm>
            <a:off x="640080" y="3218688"/>
            <a:ext cx="3611880" cy="365760"/>
          </a:xfrm>
          <a:prstGeom prst="rect">
            <a:avLst/>
          </a:prstGeom>
          <a:noFill/>
          <a:ln/>
        </p:spPr>
        <p:txBody>
          <a:bodyPr wrap="square" lIns="0" tIns="0" rIns="0" bIns="0" rtlCol="0" anchor="ctr"/>
          <a:lstStyle/>
          <a:p>
            <a:pPr marL="0" indent="0">
              <a:buNone/>
            </a:pPr>
            <a:r>
              <a:rPr lang="en-US" sz="1600" b="1" dirty="0">
                <a:solidFill>
                  <a:srgbClr val="0B2E3F"/>
                </a:solidFill>
                <a:latin typeface="Cambria" pitchFamily="34" charset="0"/>
                <a:ea typeface="Cambria" pitchFamily="34" charset="-122"/>
                <a:cs typeface="Cambria" pitchFamily="34" charset="-120"/>
              </a:rPr>
              <a:t>Missing values</a:t>
            </a:r>
            <a:endParaRPr lang="en-US" sz="1600" dirty="0"/>
          </a:p>
        </p:txBody>
      </p:sp>
      <p:sp>
        <p:nvSpPr>
          <p:cNvPr id="13" name="Text 11"/>
          <p:cNvSpPr txBox="1"/>
          <p:nvPr/>
        </p:nvSpPr>
        <p:spPr>
          <a:xfrm>
            <a:off x="640080" y="3611880"/>
            <a:ext cx="3611880" cy="868680"/>
          </a:xfrm>
          <a:prstGeom prst="rect">
            <a:avLst/>
          </a:prstGeom>
          <a:noFill/>
          <a:ln/>
        </p:spPr>
        <p:txBody>
          <a:bodyPr wrap="square" lIns="0" tIns="0" rIns="0" bIns="0" rtlCol="0" anchor="t"/>
          <a:lstStyle/>
          <a:p>
            <a:pPr marL="0" indent="0">
              <a:buNone/>
            </a:pPr>
            <a:r>
              <a:rPr lang="en-US" sz="1400" dirty="0">
                <a:solidFill>
                  <a:srgbClr val="1F2937"/>
                </a:solidFill>
                <a:latin typeface="Calibri" pitchFamily="34" charset="0"/>
                <a:ea typeface="Calibri" pitchFamily="34" charset="-122"/>
                <a:cs typeface="Calibri" pitchFamily="34" charset="-120"/>
              </a:rPr>
              <a:t>Not every lab is drawn for every patient. Check percent missing per column.</a:t>
            </a:r>
            <a:endParaRPr lang="en-US" sz="1400" dirty="0"/>
          </a:p>
        </p:txBody>
      </p:sp>
      <p:sp>
        <p:nvSpPr>
          <p:cNvPr id="14" name="Shape 12"/>
          <p:cNvSpPr/>
          <p:nvPr/>
        </p:nvSpPr>
        <p:spPr>
          <a:xfrm>
            <a:off x="4709160" y="3108960"/>
            <a:ext cx="3977640" cy="1463040"/>
          </a:xfrm>
          <a:prstGeom prst="roundRect">
            <a:avLst>
              <a:gd name="adj" fmla="val 5000"/>
            </a:avLst>
          </a:prstGeom>
          <a:solidFill>
            <a:srgbClr val="FDEBE5"/>
          </a:solidFill>
          <a:ln w="12700">
            <a:solidFill>
              <a:srgbClr val="FDEBE5"/>
            </a:solidFill>
            <a:prstDash val="solid"/>
          </a:ln>
        </p:spPr>
        <p:txBody>
          <a:bodyPr/>
          <a:lstStyle/>
          <a:p>
            <a:endParaRPr lang="en-US"/>
          </a:p>
        </p:txBody>
      </p:sp>
      <p:sp>
        <p:nvSpPr>
          <p:cNvPr id="15" name="Text 13"/>
          <p:cNvSpPr txBox="1"/>
          <p:nvPr/>
        </p:nvSpPr>
        <p:spPr>
          <a:xfrm>
            <a:off x="4892040" y="3218688"/>
            <a:ext cx="3611880" cy="365760"/>
          </a:xfrm>
          <a:prstGeom prst="rect">
            <a:avLst/>
          </a:prstGeom>
          <a:noFill/>
          <a:ln/>
        </p:spPr>
        <p:txBody>
          <a:bodyPr wrap="square" lIns="0" tIns="0" rIns="0" bIns="0" rtlCol="0" anchor="ctr"/>
          <a:lstStyle/>
          <a:p>
            <a:pPr marL="0" indent="0">
              <a:buNone/>
            </a:pPr>
            <a:r>
              <a:rPr lang="en-US" sz="1600" b="1" dirty="0">
                <a:solidFill>
                  <a:srgbClr val="0B2E3F"/>
                </a:solidFill>
                <a:latin typeface="Cambria" pitchFamily="34" charset="0"/>
                <a:ea typeface="Cambria" pitchFamily="34" charset="-122"/>
                <a:cs typeface="Cambria" pitchFamily="34" charset="-120"/>
              </a:rPr>
              <a:t>Explore</a:t>
            </a:r>
            <a:endParaRPr lang="en-US" sz="1600" dirty="0"/>
          </a:p>
        </p:txBody>
      </p:sp>
      <p:sp>
        <p:nvSpPr>
          <p:cNvPr id="16" name="Text 14"/>
          <p:cNvSpPr txBox="1"/>
          <p:nvPr/>
        </p:nvSpPr>
        <p:spPr>
          <a:xfrm>
            <a:off x="4892040" y="3611880"/>
            <a:ext cx="3611880" cy="868680"/>
          </a:xfrm>
          <a:prstGeom prst="rect">
            <a:avLst/>
          </a:prstGeom>
          <a:noFill/>
          <a:ln/>
        </p:spPr>
        <p:txBody>
          <a:bodyPr wrap="square" lIns="0" tIns="0" rIns="0" bIns="0" rtlCol="0" anchor="t"/>
          <a:lstStyle/>
          <a:p>
            <a:pPr marL="0" indent="0">
              <a:buNone/>
            </a:pPr>
            <a:r>
              <a:rPr lang="en-US" sz="1400" dirty="0">
                <a:solidFill>
                  <a:srgbClr val="1F2937"/>
                </a:solidFill>
                <a:latin typeface="Calibri" pitchFamily="34" charset="0"/>
                <a:ea typeface="Calibri" pitchFamily="34" charset="-122"/>
                <a:cs typeface="Calibri" pitchFamily="34" charset="-120"/>
              </a:rPr>
              <a:t>seaborn boxplots by outcome and a correlation heatmap.</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marL="0" indent="0">
              <a:buNone/>
            </a:pPr>
            <a:r>
              <a:rPr lang="en-US" sz="3200" b="1" dirty="0">
                <a:solidFill>
                  <a:srgbClr val="0B2E3F"/>
                </a:solidFill>
                <a:latin typeface="Cambria" pitchFamily="34" charset="0"/>
                <a:ea typeface="Cambria" pitchFamily="34" charset="-122"/>
                <a:cs typeface="Cambria" pitchFamily="34" charset="-120"/>
              </a:rPr>
              <a:t>Step 5: Split and build the models</a:t>
            </a:r>
            <a:endParaRPr lang="en-US" sz="3200" dirty="0"/>
          </a:p>
        </p:txBody>
      </p:sp>
      <p:sp>
        <p:nvSpPr>
          <p:cNvPr id="3" name="Shape 1"/>
          <p:cNvSpPr/>
          <p:nvPr/>
        </p:nvSpPr>
        <p:spPr>
          <a:xfrm>
            <a:off x="8229600" y="365760"/>
            <a:ext cx="502920" cy="502920"/>
          </a:xfrm>
          <a:prstGeom prst="ellipse">
            <a:avLst/>
          </a:prstGeom>
          <a:solidFill>
            <a:srgbClr val="0E7C86"/>
          </a:solidFill>
          <a:ln w="12700">
            <a:solidFill>
              <a:srgbClr val="0E7C86"/>
            </a:solidFill>
            <a:prstDash val="solid"/>
          </a:ln>
        </p:spPr>
        <p:txBody>
          <a:bodyPr/>
          <a:lstStyle/>
          <a:p>
            <a:endParaRPr lang="en-US"/>
          </a:p>
        </p:txBody>
      </p:sp>
      <p:sp>
        <p:nvSpPr>
          <p:cNvPr id="4" name="Text 2"/>
          <p:cNvSpPr txBox="1"/>
          <p:nvPr/>
        </p:nvSpPr>
        <p:spPr>
          <a:xfrm>
            <a:off x="8229600" y="3657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5" name="Shape 3"/>
          <p:cNvSpPr/>
          <p:nvPr/>
        </p:nvSpPr>
        <p:spPr>
          <a:xfrm>
            <a:off x="457200" y="1280160"/>
            <a:ext cx="4572000" cy="3383280"/>
          </a:xfrm>
          <a:prstGeom prst="roundRect">
            <a:avLst>
              <a:gd name="adj" fmla="val 2162"/>
            </a:avLst>
          </a:prstGeom>
          <a:solidFill>
            <a:srgbClr val="0B2E3F"/>
          </a:solidFill>
          <a:ln w="12700">
            <a:solidFill>
              <a:srgbClr val="0B2E3F"/>
            </a:solidFill>
            <a:prstDash val="solid"/>
          </a:ln>
        </p:spPr>
        <p:txBody>
          <a:bodyPr/>
          <a:lstStyle/>
          <a:p>
            <a:endParaRPr lang="en-US"/>
          </a:p>
        </p:txBody>
      </p:sp>
      <p:sp>
        <p:nvSpPr>
          <p:cNvPr id="6" name="Text 4"/>
          <p:cNvSpPr txBox="1"/>
          <p:nvPr/>
        </p:nvSpPr>
        <p:spPr>
          <a:xfrm>
            <a:off x="640080" y="1371600"/>
            <a:ext cx="4206240" cy="3200400"/>
          </a:xfrm>
          <a:prstGeom prst="rect">
            <a:avLst/>
          </a:prstGeom>
          <a:noFill/>
          <a:ln/>
        </p:spPr>
        <p:txBody>
          <a:bodyPr wrap="square" lIns="0" tIns="0" rIns="0" bIns="0" rtlCol="0" anchor="t"/>
          <a:lstStyle/>
          <a:p>
            <a:pPr marL="0" indent="0">
              <a:buNone/>
            </a:pPr>
            <a:r>
              <a:rPr lang="en-US" sz="1200" dirty="0">
                <a:solidFill>
                  <a:srgbClr val="D6F1EE"/>
                </a:solidFill>
                <a:latin typeface="Courier New" pitchFamily="34" charset="0"/>
                <a:ea typeface="Courier New" pitchFamily="34" charset="-122"/>
                <a:cs typeface="Courier New" pitchFamily="34" charset="-120"/>
              </a:rPr>
              <a:t>X_train, X_test, y_train, y_test =</a:t>
            </a:r>
            <a:endParaRPr lang="en-US" sz="1200" dirty="0"/>
          </a:p>
          <a:p>
            <a:pPr marL="0" indent="0">
              <a:buNone/>
            </a:pPr>
            <a:r>
              <a:rPr lang="en-US" sz="1200" dirty="0">
                <a:solidFill>
                  <a:srgbClr val="D6F1EE"/>
                </a:solidFill>
                <a:latin typeface="Courier New" pitchFamily="34" charset="0"/>
                <a:ea typeface="Courier New" pitchFamily="34" charset="-122"/>
                <a:cs typeface="Courier New" pitchFamily="34" charset="-120"/>
              </a:rPr>
              <a:t>  train_test_split(X, y, test_size=0.2,</a:t>
            </a:r>
            <a:endParaRPr lang="en-US" sz="1200" dirty="0"/>
          </a:p>
          <a:p>
            <a:pPr marL="0" indent="0">
              <a:buNone/>
            </a:pPr>
            <a:r>
              <a:rPr lang="en-US" sz="1200" dirty="0">
                <a:solidFill>
                  <a:srgbClr val="D6F1EE"/>
                </a:solidFill>
                <a:latin typeface="Courier New" pitchFamily="34" charset="0"/>
                <a:ea typeface="Courier New" pitchFamily="34" charset="-122"/>
                <a:cs typeface="Courier New" pitchFamily="34" charset="-120"/>
              </a:rPr>
              <a:t>  stratify=y, random_state=42)</a:t>
            </a:r>
            <a:endParaRPr lang="en-US" sz="1200" dirty="0"/>
          </a:p>
          <a:p>
            <a:pPr marL="0" indent="0">
              <a:buNone/>
            </a:pPr>
            <a:endParaRPr lang="en-US" sz="1200" dirty="0"/>
          </a:p>
          <a:p>
            <a:pPr marL="0" indent="0">
              <a:buNone/>
            </a:pPr>
            <a:r>
              <a:rPr lang="en-US" sz="1200" dirty="0">
                <a:solidFill>
                  <a:srgbClr val="D6F1EE"/>
                </a:solidFill>
                <a:latin typeface="Courier New" pitchFamily="34" charset="0"/>
                <a:ea typeface="Courier New" pitchFamily="34" charset="-122"/>
                <a:cs typeface="Courier New" pitchFamily="34" charset="-120"/>
              </a:rPr>
              <a:t>logreg = Pipeline([</a:t>
            </a:r>
            <a:endParaRPr lang="en-US" sz="1200" dirty="0"/>
          </a:p>
          <a:p>
            <a:pPr marL="0" indent="0">
              <a:buNone/>
            </a:pPr>
            <a:r>
              <a:rPr lang="en-US" sz="1200" dirty="0">
                <a:solidFill>
                  <a:srgbClr val="D6F1EE"/>
                </a:solidFill>
                <a:latin typeface="Courier New" pitchFamily="34" charset="0"/>
                <a:ea typeface="Courier New" pitchFamily="34" charset="-122"/>
                <a:cs typeface="Courier New" pitchFamily="34" charset="-120"/>
              </a:rPr>
              <a:t>  ("impute", SimpleImputer(</a:t>
            </a:r>
            <a:endParaRPr lang="en-US" sz="1200" dirty="0"/>
          </a:p>
          <a:p>
            <a:pPr marL="0" indent="0">
              <a:buNone/>
            </a:pPr>
            <a:r>
              <a:rPr lang="en-US" sz="1200" dirty="0">
                <a:solidFill>
                  <a:srgbClr val="D6F1EE"/>
                </a:solidFill>
                <a:latin typeface="Courier New" pitchFamily="34" charset="0"/>
                <a:ea typeface="Courier New" pitchFamily="34" charset="-122"/>
                <a:cs typeface="Courier New" pitchFamily="34" charset="-120"/>
              </a:rPr>
              <a:t>      strategy="median")),</a:t>
            </a:r>
            <a:endParaRPr lang="en-US" sz="1200" dirty="0"/>
          </a:p>
          <a:p>
            <a:pPr marL="0" indent="0">
              <a:buNone/>
            </a:pPr>
            <a:r>
              <a:rPr lang="en-US" sz="1200" dirty="0">
                <a:solidFill>
                  <a:srgbClr val="D6F1EE"/>
                </a:solidFill>
                <a:latin typeface="Courier New" pitchFamily="34" charset="0"/>
                <a:ea typeface="Courier New" pitchFamily="34" charset="-122"/>
                <a:cs typeface="Courier New" pitchFamily="34" charset="-120"/>
              </a:rPr>
              <a:t>  ("scale", StandardScaler()),</a:t>
            </a:r>
            <a:endParaRPr lang="en-US" sz="1200" dirty="0"/>
          </a:p>
          <a:p>
            <a:pPr marL="0" indent="0">
              <a:buNone/>
            </a:pPr>
            <a:r>
              <a:rPr lang="en-US" sz="1200" dirty="0">
                <a:solidFill>
                  <a:srgbClr val="D6F1EE"/>
                </a:solidFill>
                <a:latin typeface="Courier New" pitchFamily="34" charset="0"/>
                <a:ea typeface="Courier New" pitchFamily="34" charset="-122"/>
                <a:cs typeface="Courier New" pitchFamily="34" charset="-120"/>
              </a:rPr>
              <a:t>  ("model", LogisticRegression(</a:t>
            </a:r>
            <a:endParaRPr lang="en-US" sz="1200" dirty="0"/>
          </a:p>
          <a:p>
            <a:pPr marL="0" indent="0">
              <a:buNone/>
            </a:pPr>
            <a:r>
              <a:rPr lang="en-US" sz="1200" dirty="0">
                <a:solidFill>
                  <a:srgbClr val="D6F1EE"/>
                </a:solidFill>
                <a:latin typeface="Courier New" pitchFamily="34" charset="0"/>
                <a:ea typeface="Courier New" pitchFamily="34" charset="-122"/>
                <a:cs typeface="Courier New" pitchFamily="34" charset="-120"/>
              </a:rPr>
              <a:t>      class_weight="balanced"))])</a:t>
            </a:r>
            <a:endParaRPr lang="en-US" sz="1200" dirty="0"/>
          </a:p>
        </p:txBody>
      </p:sp>
      <p:sp>
        <p:nvSpPr>
          <p:cNvPr id="7" name="Text 5"/>
          <p:cNvSpPr txBox="1"/>
          <p:nvPr/>
        </p:nvSpPr>
        <p:spPr>
          <a:xfrm>
            <a:off x="5303520" y="1280160"/>
            <a:ext cx="3383280" cy="33832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80/20 split; stratify keeps class share equal</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Pipeline = same steps for train and test</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Median imputation learned from training only</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Second model: RandomForestClassifier</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Fix random_state for repeatable results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marL="0" indent="0">
              <a:buNone/>
            </a:pPr>
            <a:r>
              <a:rPr lang="en-US" sz="3200" b="1" dirty="0">
                <a:solidFill>
                  <a:srgbClr val="0B2E3F"/>
                </a:solidFill>
                <a:latin typeface="Cambria" pitchFamily="34" charset="0"/>
                <a:ea typeface="Cambria" pitchFamily="34" charset="-122"/>
                <a:cs typeface="Cambria" pitchFamily="34" charset="-120"/>
              </a:rPr>
              <a:t>Step 6: Evaluate on the test set</a:t>
            </a:r>
            <a:endParaRPr lang="en-US" sz="3200" dirty="0"/>
          </a:p>
        </p:txBody>
      </p:sp>
      <p:sp>
        <p:nvSpPr>
          <p:cNvPr id="3" name="Shape 1"/>
          <p:cNvSpPr/>
          <p:nvPr/>
        </p:nvSpPr>
        <p:spPr>
          <a:xfrm>
            <a:off x="8229600" y="365760"/>
            <a:ext cx="502920" cy="502920"/>
          </a:xfrm>
          <a:prstGeom prst="ellipse">
            <a:avLst/>
          </a:prstGeom>
          <a:solidFill>
            <a:srgbClr val="0E7C86"/>
          </a:solidFill>
          <a:ln w="12700">
            <a:solidFill>
              <a:srgbClr val="0E7C86"/>
            </a:solidFill>
            <a:prstDash val="solid"/>
          </a:ln>
        </p:spPr>
        <p:txBody>
          <a:bodyPr/>
          <a:lstStyle/>
          <a:p>
            <a:endParaRPr lang="en-US"/>
          </a:p>
        </p:txBody>
      </p:sp>
      <p:sp>
        <p:nvSpPr>
          <p:cNvPr id="4" name="Text 2"/>
          <p:cNvSpPr txBox="1"/>
          <p:nvPr/>
        </p:nvSpPr>
        <p:spPr>
          <a:xfrm>
            <a:off x="8229600" y="3657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5" name="Shape 3"/>
          <p:cNvSpPr/>
          <p:nvPr/>
        </p:nvSpPr>
        <p:spPr>
          <a:xfrm>
            <a:off x="457200" y="1280160"/>
            <a:ext cx="2606040" cy="2011680"/>
          </a:xfrm>
          <a:prstGeom prst="roundRect">
            <a:avLst>
              <a:gd name="adj" fmla="val 3636"/>
            </a:avLst>
          </a:prstGeom>
          <a:solidFill>
            <a:srgbClr val="E6F4F1"/>
          </a:solidFill>
          <a:ln w="12700">
            <a:solidFill>
              <a:srgbClr val="E6F4F1"/>
            </a:solidFill>
            <a:prstDash val="solid"/>
          </a:ln>
        </p:spPr>
        <p:txBody>
          <a:bodyPr/>
          <a:lstStyle/>
          <a:p>
            <a:endParaRPr lang="en-US"/>
          </a:p>
        </p:txBody>
      </p:sp>
      <p:sp>
        <p:nvSpPr>
          <p:cNvPr id="6" name="Text 4"/>
          <p:cNvSpPr txBox="1"/>
          <p:nvPr/>
        </p:nvSpPr>
        <p:spPr>
          <a:xfrm>
            <a:off x="640080" y="1389888"/>
            <a:ext cx="2240280" cy="365760"/>
          </a:xfrm>
          <a:prstGeom prst="rect">
            <a:avLst/>
          </a:prstGeom>
          <a:noFill/>
          <a:ln/>
        </p:spPr>
        <p:txBody>
          <a:bodyPr wrap="square" lIns="0" tIns="0" rIns="0" bIns="0" rtlCol="0" anchor="ctr"/>
          <a:lstStyle/>
          <a:p>
            <a:pPr marL="0" indent="0">
              <a:buNone/>
            </a:pPr>
            <a:r>
              <a:rPr lang="en-US" sz="1600" b="1" dirty="0">
                <a:solidFill>
                  <a:srgbClr val="0B2E3F"/>
                </a:solidFill>
                <a:latin typeface="Cambria" pitchFamily="34" charset="0"/>
                <a:ea typeface="Cambria" pitchFamily="34" charset="-122"/>
                <a:cs typeface="Cambria" pitchFamily="34" charset="-120"/>
              </a:rPr>
              <a:t>AUROC</a:t>
            </a:r>
            <a:endParaRPr lang="en-US" sz="1600" dirty="0"/>
          </a:p>
        </p:txBody>
      </p:sp>
      <p:sp>
        <p:nvSpPr>
          <p:cNvPr id="7" name="Text 5"/>
          <p:cNvSpPr txBox="1"/>
          <p:nvPr/>
        </p:nvSpPr>
        <p:spPr>
          <a:xfrm>
            <a:off x="640080" y="1783080"/>
            <a:ext cx="2240280" cy="1417320"/>
          </a:xfrm>
          <a:prstGeom prst="rect">
            <a:avLst/>
          </a:prstGeom>
          <a:noFill/>
          <a:ln/>
        </p:spPr>
        <p:txBody>
          <a:bodyPr wrap="square" lIns="0" tIns="0" rIns="0" bIns="0" rtlCol="0" anchor="t"/>
          <a:lstStyle/>
          <a:p>
            <a:pPr marL="0" indent="0">
              <a:buNone/>
            </a:pPr>
            <a:r>
              <a:rPr lang="en-US" sz="1400" dirty="0">
                <a:solidFill>
                  <a:srgbClr val="1F2937"/>
                </a:solidFill>
                <a:latin typeface="Calibri" pitchFamily="34" charset="0"/>
                <a:ea typeface="Calibri" pitchFamily="34" charset="-122"/>
                <a:cs typeface="Calibri" pitchFamily="34" charset="-120"/>
              </a:rPr>
              <a:t>How well the model ranks prolonged stays above others. 0.5 = coin flip, 1.0 = perfect.</a:t>
            </a:r>
            <a:endParaRPr lang="en-US" sz="1400" dirty="0"/>
          </a:p>
        </p:txBody>
      </p:sp>
      <p:sp>
        <p:nvSpPr>
          <p:cNvPr id="8" name="Shape 6"/>
          <p:cNvSpPr/>
          <p:nvPr/>
        </p:nvSpPr>
        <p:spPr>
          <a:xfrm>
            <a:off x="3246120" y="1280160"/>
            <a:ext cx="2606040" cy="2011680"/>
          </a:xfrm>
          <a:prstGeom prst="roundRect">
            <a:avLst>
              <a:gd name="adj" fmla="val 3636"/>
            </a:avLst>
          </a:prstGeom>
          <a:solidFill>
            <a:srgbClr val="E6F4F1"/>
          </a:solidFill>
          <a:ln w="12700">
            <a:solidFill>
              <a:srgbClr val="E6F4F1"/>
            </a:solidFill>
            <a:prstDash val="solid"/>
          </a:ln>
        </p:spPr>
        <p:txBody>
          <a:bodyPr/>
          <a:lstStyle/>
          <a:p>
            <a:endParaRPr lang="en-US"/>
          </a:p>
        </p:txBody>
      </p:sp>
      <p:sp>
        <p:nvSpPr>
          <p:cNvPr id="9" name="Text 7"/>
          <p:cNvSpPr txBox="1"/>
          <p:nvPr/>
        </p:nvSpPr>
        <p:spPr>
          <a:xfrm>
            <a:off x="3429000" y="1389888"/>
            <a:ext cx="2240280" cy="365760"/>
          </a:xfrm>
          <a:prstGeom prst="rect">
            <a:avLst/>
          </a:prstGeom>
          <a:noFill/>
          <a:ln/>
        </p:spPr>
        <p:txBody>
          <a:bodyPr wrap="square" lIns="0" tIns="0" rIns="0" bIns="0" rtlCol="0" anchor="ctr"/>
          <a:lstStyle/>
          <a:p>
            <a:pPr marL="0" indent="0">
              <a:buNone/>
            </a:pPr>
            <a:r>
              <a:rPr lang="en-US" sz="1600" b="1" dirty="0">
                <a:solidFill>
                  <a:srgbClr val="0B2E3F"/>
                </a:solidFill>
                <a:latin typeface="Cambria" pitchFamily="34" charset="0"/>
                <a:ea typeface="Cambria" pitchFamily="34" charset="-122"/>
                <a:cs typeface="Cambria" pitchFamily="34" charset="-120"/>
              </a:rPr>
              <a:t>Confusion matrix</a:t>
            </a:r>
            <a:endParaRPr lang="en-US" sz="1600" dirty="0"/>
          </a:p>
        </p:txBody>
      </p:sp>
      <p:sp>
        <p:nvSpPr>
          <p:cNvPr id="10" name="Text 8"/>
          <p:cNvSpPr txBox="1"/>
          <p:nvPr/>
        </p:nvSpPr>
        <p:spPr>
          <a:xfrm>
            <a:off x="3429000" y="1783080"/>
            <a:ext cx="2240280" cy="1417320"/>
          </a:xfrm>
          <a:prstGeom prst="rect">
            <a:avLst/>
          </a:prstGeom>
          <a:noFill/>
          <a:ln/>
        </p:spPr>
        <p:txBody>
          <a:bodyPr wrap="square" lIns="0" tIns="0" rIns="0" bIns="0" rtlCol="0" anchor="t"/>
          <a:lstStyle/>
          <a:p>
            <a:pPr marL="0" indent="0">
              <a:buNone/>
            </a:pPr>
            <a:r>
              <a:rPr lang="en-US" sz="1400" dirty="0">
                <a:solidFill>
                  <a:srgbClr val="1F2937"/>
                </a:solidFill>
                <a:latin typeface="Calibri" pitchFamily="34" charset="0"/>
                <a:ea typeface="Calibri" pitchFamily="34" charset="-122"/>
                <a:cs typeface="Calibri" pitchFamily="34" charset="-120"/>
              </a:rPr>
              <a:t>Counts of correct and wrong predictions for each class.</a:t>
            </a:r>
            <a:endParaRPr lang="en-US" sz="1400" dirty="0"/>
          </a:p>
        </p:txBody>
      </p:sp>
      <p:sp>
        <p:nvSpPr>
          <p:cNvPr id="11" name="Shape 9"/>
          <p:cNvSpPr/>
          <p:nvPr/>
        </p:nvSpPr>
        <p:spPr>
          <a:xfrm>
            <a:off x="6035040" y="1280160"/>
            <a:ext cx="2651760" cy="2011680"/>
          </a:xfrm>
          <a:prstGeom prst="roundRect">
            <a:avLst>
              <a:gd name="adj" fmla="val 3636"/>
            </a:avLst>
          </a:prstGeom>
          <a:solidFill>
            <a:srgbClr val="E6F4F1"/>
          </a:solidFill>
          <a:ln w="12700">
            <a:solidFill>
              <a:srgbClr val="E6F4F1"/>
            </a:solidFill>
            <a:prstDash val="solid"/>
          </a:ln>
        </p:spPr>
        <p:txBody>
          <a:bodyPr/>
          <a:lstStyle/>
          <a:p>
            <a:endParaRPr lang="en-US"/>
          </a:p>
        </p:txBody>
      </p:sp>
      <p:sp>
        <p:nvSpPr>
          <p:cNvPr id="12" name="Text 10"/>
          <p:cNvSpPr txBox="1"/>
          <p:nvPr/>
        </p:nvSpPr>
        <p:spPr>
          <a:xfrm>
            <a:off x="6217920" y="1389888"/>
            <a:ext cx="2286000" cy="365760"/>
          </a:xfrm>
          <a:prstGeom prst="rect">
            <a:avLst/>
          </a:prstGeom>
          <a:noFill/>
          <a:ln/>
        </p:spPr>
        <p:txBody>
          <a:bodyPr wrap="square" lIns="0" tIns="0" rIns="0" bIns="0" rtlCol="0" anchor="ctr"/>
          <a:lstStyle/>
          <a:p>
            <a:pPr marL="0" indent="0">
              <a:buNone/>
            </a:pPr>
            <a:r>
              <a:rPr lang="en-US" sz="1600" b="1" dirty="0">
                <a:solidFill>
                  <a:srgbClr val="0B2E3F"/>
                </a:solidFill>
                <a:latin typeface="Cambria" pitchFamily="34" charset="0"/>
                <a:ea typeface="Cambria" pitchFamily="34" charset="-122"/>
                <a:cs typeface="Cambria" pitchFamily="34" charset="-120"/>
              </a:rPr>
              <a:t>Precision / recall</a:t>
            </a:r>
            <a:endParaRPr lang="en-US" sz="1600" dirty="0"/>
          </a:p>
        </p:txBody>
      </p:sp>
      <p:sp>
        <p:nvSpPr>
          <p:cNvPr id="13" name="Text 11"/>
          <p:cNvSpPr txBox="1"/>
          <p:nvPr/>
        </p:nvSpPr>
        <p:spPr>
          <a:xfrm>
            <a:off x="6217920" y="1783080"/>
            <a:ext cx="2286000" cy="1417320"/>
          </a:xfrm>
          <a:prstGeom prst="rect">
            <a:avLst/>
          </a:prstGeom>
          <a:noFill/>
          <a:ln/>
        </p:spPr>
        <p:txBody>
          <a:bodyPr wrap="square" lIns="0" tIns="0" rIns="0" bIns="0" rtlCol="0" anchor="t"/>
          <a:lstStyle/>
          <a:p>
            <a:pPr marL="0" indent="0">
              <a:buNone/>
            </a:pPr>
            <a:r>
              <a:rPr lang="en-US" sz="1400" dirty="0">
                <a:solidFill>
                  <a:srgbClr val="1F2937"/>
                </a:solidFill>
                <a:latin typeface="Calibri" pitchFamily="34" charset="0"/>
                <a:ea typeface="Calibri" pitchFamily="34" charset="-122"/>
                <a:cs typeface="Calibri" pitchFamily="34" charset="-120"/>
              </a:rPr>
              <a:t>Recall: share of true prolonged stays we catch.</a:t>
            </a:r>
            <a:endParaRPr lang="en-US" sz="1400" dirty="0"/>
          </a:p>
        </p:txBody>
      </p:sp>
      <p:sp>
        <p:nvSpPr>
          <p:cNvPr id="14" name="Shape 12"/>
          <p:cNvSpPr/>
          <p:nvPr/>
        </p:nvSpPr>
        <p:spPr>
          <a:xfrm>
            <a:off x="457200" y="3520440"/>
            <a:ext cx="8229600" cy="1097280"/>
          </a:xfrm>
          <a:prstGeom prst="roundRect">
            <a:avLst>
              <a:gd name="adj" fmla="val 6667"/>
            </a:avLst>
          </a:prstGeom>
          <a:solidFill>
            <a:srgbClr val="0B2E3F"/>
          </a:solidFill>
          <a:ln w="12700">
            <a:solidFill>
              <a:srgbClr val="0B2E3F"/>
            </a:solidFill>
            <a:prstDash val="solid"/>
          </a:ln>
        </p:spPr>
        <p:txBody>
          <a:bodyPr/>
          <a:lstStyle/>
          <a:p>
            <a:endParaRPr lang="en-US"/>
          </a:p>
        </p:txBody>
      </p:sp>
      <p:sp>
        <p:nvSpPr>
          <p:cNvPr id="15" name="Text 13"/>
          <p:cNvSpPr txBox="1"/>
          <p:nvPr/>
        </p:nvSpPr>
        <p:spPr>
          <a:xfrm>
            <a:off x="640080" y="3611880"/>
            <a:ext cx="7863840" cy="914400"/>
          </a:xfrm>
          <a:prstGeom prst="rect">
            <a:avLst/>
          </a:prstGeom>
          <a:noFill/>
          <a:ln/>
        </p:spPr>
        <p:txBody>
          <a:bodyPr wrap="square" lIns="0" tIns="0" rIns="0" bIns="0" rtlCol="0" anchor="t"/>
          <a:lstStyle/>
          <a:p>
            <a:pPr marL="0" indent="0">
              <a:buNone/>
            </a:pPr>
            <a:r>
              <a:rPr lang="en-US" sz="1200" dirty="0">
                <a:solidFill>
                  <a:srgbClr val="D6F1EE"/>
                </a:solidFill>
                <a:latin typeface="Courier New" pitchFamily="34" charset="0"/>
                <a:ea typeface="Courier New" pitchFamily="34" charset="-122"/>
                <a:cs typeface="Courier New" pitchFamily="34" charset="-120"/>
              </a:rPr>
              <a:t>proba = model.predict_proba(X_test)[:, 1]</a:t>
            </a:r>
            <a:endParaRPr lang="en-US" sz="1200" dirty="0"/>
          </a:p>
          <a:p>
            <a:pPr marL="0" indent="0">
              <a:buNone/>
            </a:pPr>
            <a:r>
              <a:rPr lang="en-US" sz="1200" dirty="0">
                <a:solidFill>
                  <a:srgbClr val="D6F1EE"/>
                </a:solidFill>
                <a:latin typeface="Courier New" pitchFamily="34" charset="0"/>
                <a:ea typeface="Courier New" pitchFamily="34" charset="-122"/>
                <a:cs typeface="Courier New" pitchFamily="34" charset="-120"/>
              </a:rPr>
              <a:t>roc_auc_score(y_test, proba)</a:t>
            </a:r>
            <a:endParaRPr lang="en-US" sz="1200" dirty="0"/>
          </a:p>
          <a:p>
            <a:pPr marL="0" indent="0">
              <a:buNone/>
            </a:pPr>
            <a:r>
              <a:rPr lang="en-US" sz="1200" dirty="0">
                <a:solidFill>
                  <a:srgbClr val="D6F1EE"/>
                </a:solidFill>
                <a:latin typeface="Courier New" pitchFamily="34" charset="0"/>
                <a:ea typeface="Courier New" pitchFamily="34" charset="-122"/>
                <a:cs typeface="Courier New" pitchFamily="34" charset="-120"/>
              </a:rPr>
              <a:t>classification_report(y_test, pred)</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marL="0" indent="0">
              <a:buNone/>
            </a:pPr>
            <a:r>
              <a:rPr lang="en-US" sz="3200" b="1" dirty="0">
                <a:solidFill>
                  <a:srgbClr val="0B2E3F"/>
                </a:solidFill>
                <a:latin typeface="Cambria" pitchFamily="34" charset="0"/>
                <a:ea typeface="Cambria" pitchFamily="34" charset="-122"/>
                <a:cs typeface="Cambria" pitchFamily="34" charset="-120"/>
              </a:rPr>
              <a:t>Interpreting the model, and common pitfalls</a:t>
            </a:r>
            <a:endParaRPr lang="en-US" sz="3200" dirty="0"/>
          </a:p>
        </p:txBody>
      </p:sp>
      <p:sp>
        <p:nvSpPr>
          <p:cNvPr id="3" name="Shape 1"/>
          <p:cNvSpPr/>
          <p:nvPr/>
        </p:nvSpPr>
        <p:spPr>
          <a:xfrm>
            <a:off x="457200" y="1280160"/>
            <a:ext cx="3977640" cy="3291840"/>
          </a:xfrm>
          <a:prstGeom prst="roundRect">
            <a:avLst>
              <a:gd name="adj" fmla="val 2222"/>
            </a:avLst>
          </a:prstGeom>
          <a:solidFill>
            <a:srgbClr val="E6F4F1"/>
          </a:solidFill>
          <a:ln w="12700">
            <a:solidFill>
              <a:srgbClr val="E6F4F1"/>
            </a:solidFill>
            <a:prstDash val="solid"/>
          </a:ln>
        </p:spPr>
        <p:txBody>
          <a:bodyPr/>
          <a:lstStyle/>
          <a:p>
            <a:endParaRPr lang="en-US"/>
          </a:p>
        </p:txBody>
      </p:sp>
      <p:sp>
        <p:nvSpPr>
          <p:cNvPr id="4" name="Text 2"/>
          <p:cNvSpPr txBox="1"/>
          <p:nvPr/>
        </p:nvSpPr>
        <p:spPr>
          <a:xfrm>
            <a:off x="640080" y="1389888"/>
            <a:ext cx="3611880" cy="365760"/>
          </a:xfrm>
          <a:prstGeom prst="rect">
            <a:avLst/>
          </a:prstGeom>
          <a:noFill/>
          <a:ln/>
        </p:spPr>
        <p:txBody>
          <a:bodyPr wrap="square" lIns="0" tIns="0" rIns="0" bIns="0" rtlCol="0" anchor="ctr"/>
          <a:lstStyle/>
          <a:p>
            <a:pPr marL="0" indent="0">
              <a:buNone/>
            </a:pPr>
            <a:r>
              <a:rPr lang="en-US" sz="1600" b="1" dirty="0">
                <a:solidFill>
                  <a:srgbClr val="0B2E3F"/>
                </a:solidFill>
                <a:latin typeface="Cambria" pitchFamily="34" charset="0"/>
                <a:ea typeface="Cambria" pitchFamily="34" charset="-122"/>
                <a:cs typeface="Cambria" pitchFamily="34" charset="-120"/>
              </a:rPr>
              <a:t>Interpretation</a:t>
            </a:r>
            <a:endParaRPr lang="en-US" sz="1600" dirty="0"/>
          </a:p>
        </p:txBody>
      </p:sp>
      <p:sp>
        <p:nvSpPr>
          <p:cNvPr id="5" name="Text 3"/>
          <p:cNvSpPr txBox="1"/>
          <p:nvPr/>
        </p:nvSpPr>
        <p:spPr>
          <a:xfrm>
            <a:off x="640080" y="1783080"/>
            <a:ext cx="3611880" cy="2697480"/>
          </a:xfrm>
          <a:prstGeom prst="rect">
            <a:avLst/>
          </a:prstGeom>
          <a:noFill/>
          <a:ln/>
        </p:spPr>
        <p:txBody>
          <a:bodyPr wrap="square" lIns="0" tIns="0" rIns="0" bIns="0" rtlCol="0" anchor="t"/>
          <a:lstStyle/>
          <a:p>
            <a:pPr marL="0" indent="0">
              <a:buNone/>
            </a:pPr>
            <a:r>
              <a:rPr lang="en-US" sz="1400" dirty="0">
                <a:solidFill>
                  <a:srgbClr val="1F2937"/>
                </a:solidFill>
                <a:latin typeface="Calibri" pitchFamily="34" charset="0"/>
                <a:ea typeface="Calibri" pitchFamily="34" charset="-122"/>
                <a:cs typeface="Calibri" pitchFamily="34" charset="-120"/>
              </a:rPr>
              <a:t>Random forest: feature_importances_ shows which inputs it relies on most.</a:t>
            </a:r>
            <a:endParaRPr lang="en-US" sz="1400" dirty="0"/>
          </a:p>
          <a:p>
            <a:pPr marL="0" indent="0">
              <a:buNone/>
            </a:pPr>
            <a:endParaRPr lang="en-US" sz="1400" dirty="0"/>
          </a:p>
          <a:p>
            <a:pPr marL="0" indent="0">
              <a:buNone/>
            </a:pPr>
            <a:r>
              <a:rPr lang="en-US" sz="1400" dirty="0">
                <a:solidFill>
                  <a:srgbClr val="1F2937"/>
                </a:solidFill>
                <a:latin typeface="Calibri" pitchFamily="34" charset="0"/>
                <a:ea typeface="Calibri" pitchFamily="34" charset="-122"/>
                <a:cs typeface="Calibri" pitchFamily="34" charset="-120"/>
              </a:rPr>
              <a:t>Logistic regression: coefficients show direction. Positive means more likely prolonged. Features were standardized so sizes are comparable.</a:t>
            </a:r>
            <a:endParaRPr lang="en-US" sz="1400" dirty="0"/>
          </a:p>
        </p:txBody>
      </p:sp>
      <p:sp>
        <p:nvSpPr>
          <p:cNvPr id="6" name="Shape 4"/>
          <p:cNvSpPr/>
          <p:nvPr/>
        </p:nvSpPr>
        <p:spPr>
          <a:xfrm>
            <a:off x="4709160" y="1280160"/>
            <a:ext cx="3977640" cy="3291840"/>
          </a:xfrm>
          <a:prstGeom prst="roundRect">
            <a:avLst>
              <a:gd name="adj" fmla="val 2222"/>
            </a:avLst>
          </a:prstGeom>
          <a:solidFill>
            <a:srgbClr val="FDEBE5"/>
          </a:solidFill>
          <a:ln w="12700">
            <a:solidFill>
              <a:srgbClr val="FDEBE5"/>
            </a:solidFill>
            <a:prstDash val="solid"/>
          </a:ln>
        </p:spPr>
        <p:txBody>
          <a:bodyPr/>
          <a:lstStyle/>
          <a:p>
            <a:endParaRPr lang="en-US"/>
          </a:p>
        </p:txBody>
      </p:sp>
      <p:sp>
        <p:nvSpPr>
          <p:cNvPr id="7" name="Text 5"/>
          <p:cNvSpPr txBox="1"/>
          <p:nvPr/>
        </p:nvSpPr>
        <p:spPr>
          <a:xfrm>
            <a:off x="4892040" y="1389888"/>
            <a:ext cx="3611880" cy="365760"/>
          </a:xfrm>
          <a:prstGeom prst="rect">
            <a:avLst/>
          </a:prstGeom>
          <a:noFill/>
          <a:ln/>
        </p:spPr>
        <p:txBody>
          <a:bodyPr wrap="square" lIns="0" tIns="0" rIns="0" bIns="0" rtlCol="0" anchor="ctr"/>
          <a:lstStyle/>
          <a:p>
            <a:pPr marL="0" indent="0">
              <a:buNone/>
            </a:pPr>
            <a:r>
              <a:rPr lang="en-US" sz="1600" b="1" dirty="0">
                <a:solidFill>
                  <a:srgbClr val="0B2E3F"/>
                </a:solidFill>
                <a:latin typeface="Cambria" pitchFamily="34" charset="0"/>
                <a:ea typeface="Cambria" pitchFamily="34" charset="-122"/>
                <a:cs typeface="Cambria" pitchFamily="34" charset="-120"/>
              </a:rPr>
              <a:t>Pitfalls to avoid</a:t>
            </a:r>
            <a:endParaRPr lang="en-US" sz="1600" dirty="0"/>
          </a:p>
        </p:txBody>
      </p:sp>
      <p:sp>
        <p:nvSpPr>
          <p:cNvPr id="8" name="Text 6"/>
          <p:cNvSpPr txBox="1"/>
          <p:nvPr/>
        </p:nvSpPr>
        <p:spPr>
          <a:xfrm>
            <a:off x="4892040" y="1783080"/>
            <a:ext cx="3611880" cy="2697480"/>
          </a:xfrm>
          <a:prstGeom prst="rect">
            <a:avLst/>
          </a:prstGeom>
          <a:noFill/>
          <a:ln/>
        </p:spPr>
        <p:txBody>
          <a:bodyPr wrap="square" lIns="0" tIns="0" rIns="0" bIns="0" rtlCol="0" anchor="t"/>
          <a:lstStyle/>
          <a:p>
            <a:pPr marL="0" indent="0">
              <a:buNone/>
            </a:pPr>
            <a:r>
              <a:rPr lang="en-US" sz="1400" dirty="0">
                <a:solidFill>
                  <a:srgbClr val="1F2937"/>
                </a:solidFill>
                <a:latin typeface="Calibri" pitchFamily="34" charset="0"/>
                <a:ea typeface="Calibri" pitchFamily="34" charset="-122"/>
                <a:cs typeface="Calibri" pitchFamily="34" charset="-120"/>
              </a:rPr>
              <a:t>Leakage: using labs after 24 hours.</a:t>
            </a:r>
            <a:endParaRPr lang="en-US" sz="1400" dirty="0"/>
          </a:p>
          <a:p>
            <a:pPr marL="0" indent="0">
              <a:buNone/>
            </a:pPr>
            <a:endParaRPr lang="en-US" sz="1400" dirty="0"/>
          </a:p>
          <a:p>
            <a:pPr marL="0" indent="0">
              <a:buNone/>
            </a:pPr>
            <a:r>
              <a:rPr lang="en-US" sz="1400" dirty="0">
                <a:solidFill>
                  <a:srgbClr val="1F2937"/>
                </a:solidFill>
                <a:latin typeface="Calibri" pitchFamily="34" charset="0"/>
                <a:ea typeface="Calibri" pitchFamily="34" charset="-122"/>
                <a:cs typeface="Calibri" pitchFamily="34" charset="-120"/>
              </a:rPr>
              <a:t>Same patient in train and test.</a:t>
            </a:r>
            <a:endParaRPr lang="en-US" sz="1400" dirty="0"/>
          </a:p>
          <a:p>
            <a:pPr marL="0" indent="0">
              <a:buNone/>
            </a:pPr>
            <a:endParaRPr lang="en-US" sz="1400" dirty="0"/>
          </a:p>
          <a:p>
            <a:pPr marL="0" indent="0">
              <a:buNone/>
            </a:pPr>
            <a:r>
              <a:rPr lang="en-US" sz="1400" dirty="0">
                <a:solidFill>
                  <a:srgbClr val="1F2937"/>
                </a:solidFill>
                <a:latin typeface="Calibri" pitchFamily="34" charset="0"/>
                <a:ea typeface="Calibri" pitchFamily="34" charset="-122"/>
                <a:cs typeface="Calibri" pitchFamily="34" charset="-120"/>
              </a:rPr>
              <a:t>Including LOS as a feature.</a:t>
            </a:r>
            <a:endParaRPr lang="en-US" sz="1400" dirty="0"/>
          </a:p>
          <a:p>
            <a:pPr marL="0" indent="0">
              <a:buNone/>
            </a:pPr>
            <a:endParaRPr lang="en-US" sz="1400" dirty="0"/>
          </a:p>
          <a:p>
            <a:pPr marL="0" indent="0">
              <a:buNone/>
            </a:pPr>
            <a:r>
              <a:rPr lang="en-US" sz="1400" dirty="0">
                <a:solidFill>
                  <a:srgbClr val="1F2937"/>
                </a:solidFill>
                <a:latin typeface="Calibri" pitchFamily="34" charset="0"/>
                <a:ea typeface="Calibri" pitchFamily="34" charset="-122"/>
                <a:cs typeface="Calibri" pitchFamily="34" charset="-120"/>
              </a:rPr>
              <a:t>Trusting accuracy when classes are imbalanced.</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marL="0" indent="0">
              <a:buNone/>
            </a:pPr>
            <a:r>
              <a:rPr lang="en-US" sz="3200" b="1" dirty="0">
                <a:solidFill>
                  <a:srgbClr val="0B2E3F"/>
                </a:solidFill>
                <a:latin typeface="Cambria" pitchFamily="34" charset="0"/>
                <a:ea typeface="Cambria" pitchFamily="34" charset="-122"/>
                <a:cs typeface="Cambria" pitchFamily="34" charset="-120"/>
              </a:rPr>
              <a:t>Limitations and ways to extend it</a:t>
            </a:r>
            <a:endParaRPr lang="en-US" sz="3200" dirty="0"/>
          </a:p>
        </p:txBody>
      </p:sp>
      <p:sp>
        <p:nvSpPr>
          <p:cNvPr id="3" name="Text 1"/>
          <p:cNvSpPr txBox="1"/>
          <p:nvPr/>
        </p:nvSpPr>
        <p:spPr>
          <a:xfrm>
            <a:off x="457200" y="1280160"/>
            <a:ext cx="8229600" cy="32918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Single hospital: results may not transfer elsewhere</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Early deaths have short stays; consider excluding them or predicting mortality too</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Only labs used: add vitals (CHARTEVENTS), diagnoses or notes (NOTEEVENTS)</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Try other cutoffs, gradient boosting, a Keras network, cross-validation, calibration plots</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Add indicators for whether a lab was measured</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2E3F"/>
        </a:solidFill>
        <a:effectLst/>
      </p:bgPr>
    </p:bg>
    <p:spTree>
      <p:nvGrpSpPr>
        <p:cNvPr id="1" name=""/>
        <p:cNvGrpSpPr/>
        <p:nvPr/>
      </p:nvGrpSpPr>
      <p:grpSpPr>
        <a:xfrm>
          <a:off x="0" y="0"/>
          <a:ext cx="0" cy="0"/>
          <a:chOff x="0" y="0"/>
          <a:chExt cx="0" cy="0"/>
        </a:xfrm>
      </p:grpSpPr>
      <p:sp>
        <p:nvSpPr>
          <p:cNvPr id="2" name="Text 0"/>
          <p:cNvSpPr txBox="1"/>
          <p:nvPr/>
        </p:nvSpPr>
        <p:spPr>
          <a:xfrm>
            <a:off x="640080" y="548640"/>
            <a:ext cx="7863840" cy="8229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Rebuild it yourself</a:t>
            </a:r>
            <a:endParaRPr lang="en-US" sz="4000" dirty="0"/>
          </a:p>
        </p:txBody>
      </p:sp>
      <p:sp>
        <p:nvSpPr>
          <p:cNvPr id="3" name="Text 1"/>
          <p:cNvSpPr txBox="1"/>
          <p:nvPr/>
        </p:nvSpPr>
        <p:spPr>
          <a:xfrm>
            <a:off x="640080" y="1645920"/>
            <a:ext cx="7863840" cy="2560320"/>
          </a:xfrm>
          <a:prstGeom prst="rect">
            <a:avLst/>
          </a:prstGeom>
          <a:noFill/>
          <a:ln/>
        </p:spPr>
        <p:txBody>
          <a:bodyPr wrap="square" lIns="0" tIns="0" rIns="0" bIns="0" rtlCol="0" anchor="t"/>
          <a:lstStyle/>
          <a:p>
            <a:pPr marL="342900" indent="-342900">
              <a:spcAft>
                <a:spcPts val="1000"/>
              </a:spcAft>
              <a:buSzPct val="100000"/>
              <a:buFont typeface="+mj-lt"/>
              <a:buAutoNum type="arabicPeriod"/>
            </a:pPr>
            <a:r>
              <a:rPr lang="en-US" sz="2000" dirty="0">
                <a:solidFill>
                  <a:srgbClr val="FFFFFF"/>
                </a:solidFill>
                <a:latin typeface="Calibri" pitchFamily="34" charset="0"/>
                <a:ea typeface="Calibri" pitchFamily="34" charset="-122"/>
                <a:cs typeface="Calibri" pitchFamily="34" charset="-120"/>
              </a:rPr>
              <a:t>Get MIMIC-III access (CITI training + PhysioNet agreement)</a:t>
            </a:r>
            <a:endParaRPr lang="en-US" sz="2000" dirty="0"/>
          </a:p>
          <a:p>
            <a:pPr marL="342900" indent="-342900">
              <a:spcAft>
                <a:spcPts val="1000"/>
              </a:spcAft>
              <a:buSzPct val="100000"/>
              <a:buFont typeface="+mj-lt"/>
              <a:buAutoNum type="arabicPeriod"/>
            </a:pPr>
            <a:r>
              <a:rPr lang="en-US" sz="2000" dirty="0">
                <a:solidFill>
                  <a:srgbClr val="FFFFFF"/>
                </a:solidFill>
                <a:latin typeface="Calibri" pitchFamily="34" charset="0"/>
                <a:ea typeface="Calibri" pitchFamily="34" charset="-122"/>
                <a:cs typeface="Calibri" pitchFamily="34" charset="-120"/>
              </a:rPr>
              <a:t>Download the CSVs and set DATA_DIR in the code</a:t>
            </a:r>
            <a:endParaRPr lang="en-US" sz="2000" dirty="0"/>
          </a:p>
          <a:p>
            <a:pPr marL="342900" indent="-342900">
              <a:spcAft>
                <a:spcPts val="1000"/>
              </a:spcAft>
              <a:buSzPct val="100000"/>
              <a:buFont typeface="+mj-lt"/>
              <a:buAutoNum type="arabicPeriod"/>
            </a:pPr>
            <a:r>
              <a:rPr lang="en-US" sz="2000" dirty="0">
                <a:solidFill>
                  <a:srgbClr val="FFFFFF"/>
                </a:solidFill>
                <a:latin typeface="Calibri" pitchFamily="34" charset="0"/>
                <a:ea typeface="Calibri" pitchFamily="34" charset="-122"/>
                <a:cs typeface="Calibri" pitchFamily="34" charset="-120"/>
              </a:rPr>
              <a:t>Run the Python file top to bottom, section by section</a:t>
            </a:r>
            <a:endParaRPr lang="en-US" sz="2000" dirty="0"/>
          </a:p>
          <a:p>
            <a:pPr marL="342900" indent="-342900">
              <a:spcAft>
                <a:spcPts val="1000"/>
              </a:spcAft>
              <a:buSzPct val="100000"/>
              <a:buFont typeface="+mj-lt"/>
              <a:buAutoNum type="arabicPeriod"/>
            </a:pPr>
            <a:r>
              <a:rPr lang="en-US" sz="2000" dirty="0">
                <a:solidFill>
                  <a:srgbClr val="FFFFFF"/>
                </a:solidFill>
                <a:latin typeface="Calibri" pitchFamily="34" charset="0"/>
                <a:ea typeface="Calibri" pitchFamily="34" charset="-122"/>
                <a:cs typeface="Calibri" pitchFamily="34" charset="-120"/>
              </a:rPr>
              <a:t>Keep your code and outputs private</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273</TotalTime>
  <Words>2018</Words>
  <Application>Microsoft Office PowerPoint</Application>
  <PresentationFormat>On-screen Show (16:9)</PresentationFormat>
  <Paragraphs>166</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Prolonged ICU Stay with MIMIC-III</dc:title>
  <dc:subject>PptxGenJS Presentation</dc:subject>
  <dc:creator>PptxGenJS</dc:creator>
  <cp:lastModifiedBy>Chimzurumoke Orji</cp:lastModifiedBy>
  <cp:revision>1</cp:revision>
  <dcterms:created xsi:type="dcterms:W3CDTF">2026-10-11T02:10:59Z</dcterms:created>
  <dcterms:modified xsi:type="dcterms:W3CDTF">2026-10-12T22:27:05Z</dcterms:modified>
</cp:coreProperties>
</file>